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Welcome to my talk on using Cursor Cloud Agent for real development tasks.</a:t>
            </a:r>
          </a:p>
          <a:p/>
          <a:p>
            <a:r>
              <a:t>My name is Umadevitd and I am a web developer. Today I will show you how I used the Cursor Cloud Agent to add a real feature to my Responsive Login Form project.</a:t>
            </a:r>
          </a:p>
          <a:p/>
          <a:p>
            <a:r>
              <a:t>This is not a made-up demo. Everything I show today was done by the AI agent on my actual GitHub repository. I will walk you through what happened step by step so you can try this workflow yourself.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first, what is Cursor?</a:t>
            </a:r>
          </a:p>
          <a:p/>
          <a:p>
            <a:r>
              <a:t>Cursor is a code editor, similar to VS Code, but with AI built directly into it. You can ask it questions about your code, and it will answer based on your actual project files.</a:t>
            </a:r>
          </a:p>
          <a:p/>
          <a:p>
            <a:r>
              <a:t>The important thing is — it does not just suggest code in a chat window. It can actually open your files, read them, understand the project structure, and then make real changes. And it does this safely, following your instructions step by step.</a:t>
            </a:r>
          </a:p>
          <a:p/>
          <a:p>
            <a:r>
              <a:t>Think of it as having a smart coding assistant sitting right inside your editor.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Cloud Agent is the next level. Instead of just suggesting code, it actually executes the full workflow.</a:t>
            </a:r>
          </a:p>
          <a:p/>
          <a:p>
            <a:r>
              <a:t>It runs on a virtual machine in the cloud. You give it a prompt describing what you want, and it does everything: creates a branch, edits the right files, writes proper commit messages, and pushes the code to GitHub.</a:t>
            </a:r>
          </a:p>
          <a:p/>
          <a:p>
            <a:r>
              <a:t>It even opens a browser to check if the UI looks correct and takes screenshots as proof. It is like having a junior developer who follows your instructions perfectly.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you the real example. This is the exact prompt I typed into the Cursor Cloud Agent.</a:t>
            </a:r>
          </a:p>
          <a:p/>
          <a:p>
            <a:r>
              <a:t>I told it: create a branch called feature/remember-me, add a Remember Me checkbox below the password field, use localStorage to save and restore the username, don't break the existing design, and commit with a proper message.</a:t>
            </a:r>
          </a:p>
          <a:p/>
          <a:p>
            <a:r>
              <a:t>That's it. One prompt. The agent read it, understood every requirement, and started working.</a:t>
            </a:r>
          </a:p>
          <a:p/>
          <a:p>
            <a:r>
              <a:t>On the right you can see how the agent broke down my prompt into clear checkpoints. It knew the branch name, the UI change needed, where to place it, the storage logic, the design constraint, and the git workflow. All from plain English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agent broke the task into steps.</a:t>
            </a:r>
          </a:p>
          <a:p/>
          <a:p>
            <a:r>
              <a:t>Step 1: It created a git branch called feature/remember-me.</a:t>
            </a:r>
          </a:p>
          <a:p>
            <a:r>
              <a:t>Step 2: It read the existing HTML, CSS, and JavaScript files to understand the project.</a:t>
            </a:r>
          </a:p>
          <a:p>
            <a:r>
              <a:t>Step 3: It added the checkbox markup in index.html, right below the password field.</a:t>
            </a:r>
          </a:p>
          <a:p>
            <a:r>
              <a:t>Step 4: It wrote CSS styles using flexbox to place Remember Me on the left and Forgot Password on the right.</a:t>
            </a:r>
          </a:p>
          <a:p>
            <a:r>
              <a:t>Step 5: It added JavaScript to save the username to localStorage on submit and restore it on page load.</a:t>
            </a:r>
          </a:p>
          <a:p>
            <a:r>
              <a:t>Step 6: It opened Chrome, typed a username, checked the box, clicked Login, and verified the auto-fill worked.</a:t>
            </a:r>
          </a:p>
          <a:p>
            <a:r>
              <a:t>Step 7: It committed with a proper message and pushed to GitHub.</a:t>
            </a:r>
          </a:p>
          <a:p/>
          <a:p>
            <a:r>
              <a:t>All seven steps from one prompt. No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explain the user flow in simple terms.</a:t>
            </a:r>
          </a:p>
          <a:p/>
          <a:p>
            <a:r>
              <a:t>The user visits the login page and types their username. They check the Remember Me checkbox. When they click Login, the JavaScript submit event handler runs. If the checkbox is checked, it saves the username to localStorage using setItem.</a:t>
            </a:r>
          </a:p>
          <a:p/>
          <a:p>
            <a:r>
              <a:t>The form then submits to index.html, which reloads the same page. On reload, the DOMContentLoaded event fires. The JavaScript checks localStorage using getItem. If a username is found, it fills the input, adds the focus CSS class so the label animates up, and checks the checkbox.</a:t>
            </a:r>
          </a:p>
          <a:p/>
          <a:p>
            <a:r>
              <a:t>The result: the user sees their username already filled in when they come back. Simple and effective.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HTML that the agent added to index.html.</a:t>
            </a:r>
          </a:p>
          <a:p/>
          <a:p>
            <a:r>
              <a:t>It created a div with the class remember-me. Inside it, there is a label that wraps the checkbox input and a span with the text Remember Me. This means clicking the text also toggles the checkbox, which is good UX.</a:t>
            </a:r>
          </a:p>
          <a:p/>
          <a:p>
            <a:r>
              <a:t>The checkbox has id="remember" so JavaScript can easily reference it with getElementById.</a:t>
            </a:r>
          </a:p>
          <a:p/>
          <a:p>
            <a:r>
              <a:t>The Forgot Password link was moved inside this div so both elements sit on the same row using flexbox. Remember Me goes to the left, Forgot Password goes to the right.</a:t>
            </a:r>
          </a:p>
          <a:p/>
          <a:p>
            <a:r>
              <a:t>Notice how simple the HTML is. No extra libraries, no frameworks. Just clean, semantic markup.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JavaScript. This is split into two parts.</a:t>
            </a:r>
          </a:p>
          <a:p/>
          <a:p>
            <a:r>
              <a:t>On the left is the SAVE logic. When the form is submitted, the submit event fires. If the Remember Me checkbox is checked, we call localStorage.setItem with the key rememberedUsername and the current value of the username input. If the checkbox is NOT checked, we call removeItem to clear it.</a:t>
            </a:r>
          </a:p>
          <a:p/>
          <a:p>
            <a:r>
              <a:t>On the right is the LOAD logic. When the page loads, the DOMContentLoaded event fires. We call localStorage.getItem to check if a username was saved. If it exists, we set the input value, add the focus CSS class to trigger the label animation, and re-check the checkbox.</a:t>
            </a:r>
          </a:p>
          <a:p/>
          <a:p>
            <a:r>
              <a:t>The key takeaway: localStorage is a simple key-value store built into every browser. setItem saves data, getItem reads it, removeItem deletes it. Data persists even after the browser is closed.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the before and after side by side.</a:t>
            </a:r>
          </a:p>
          <a:p/>
          <a:p>
            <a:r>
              <a:t>BEFORE: The original form had no Remember Me checkbox. The Forgot Password link sat alone between the password field and the Login button. Every time the user reloaded the page, the username field was empty. There was no localStorage usage at all.</a:t>
            </a:r>
          </a:p>
          <a:p/>
          <a:p>
            <a:r>
              <a:t>AFTER: We now have a clean row with the Remember Me checkbox on the left and Forgot Password on the right. When the user checks the box and logs in, the username is saved. On the next visit, it is automatically filled in with the label animated up, and the checkbox is re-checked.</a:t>
            </a:r>
          </a:p>
          <a:p/>
          <a:p>
            <a:r>
              <a:t>The key point: the existing design was not broken. Same colors, same fonts, same animations. The checkbox blends in naturally using the green accent color.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should you use the Cursor Cloud Agent?</a:t>
            </a:r>
          </a:p>
          <a:p/>
          <a:p>
            <a:r>
              <a:t>First, it saves a lot of time. This entire Remember Me feature, including branch creation, code changes, testing, and committing, was done in under five minutes. Manually, that would take 30 to 60 minutes.</a:t>
            </a:r>
          </a:p>
          <a:p/>
          <a:p>
            <a:r>
              <a:t>Second, it reduces manual work. You don't have to remember git commands, write boilerplate HTML, or figure out CSS positioning. The agent handles all of that.</a:t>
            </a:r>
          </a:p>
          <a:p/>
          <a:p>
            <a:r>
              <a:t>Third, it maintains your project structure. It follows existing naming conventions, color schemes, and code patterns. It doesn't add random styles or break your design.</a:t>
            </a:r>
          </a:p>
          <a:p/>
          <a:p>
            <a:r>
              <a:t>Fourth, it works like a junior developer. You give it clear instructions and it follows them. It is perfect for routine tasks like adding form elements, writing CRUD logic, or creating branches.</a:t>
            </a:r>
          </a:p>
          <a:p/>
          <a:p>
            <a:r>
              <a:t>It also tests its own work by opening a browser and verifying the UI. And it writes proper commit messages using the conventional commit format.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best use cases where the Cloud Agent really shines.</a:t>
            </a:r>
          </a:p>
          <a:p/>
          <a:p>
            <a:r>
              <a:t>Feature implementation is the most common. Adding form fields, buttons, new sections, API calls. Anything you can describe clearly in a prompt.</a:t>
            </a:r>
          </a:p>
          <a:p/>
          <a:p>
            <a:r>
              <a:t>Refactoring is great too. Renaming a variable across 10 files, restructuring CSS, removing dead code. The agent finds all occurrences and updates them consistently.</a:t>
            </a:r>
          </a:p>
          <a:p/>
          <a:p>
            <a:r>
              <a:t>Writing test cases. If you have existing code without tests, you can ask the agent to generate them. It understands your functions and creates appropriate test scenarios.</a:t>
            </a:r>
          </a:p>
          <a:p/>
          <a:p>
            <a:r>
              <a:t>Creating branches, generating documentation, and even bug fixing. For bugs, you can describe the symptom and the agent will investigate, add debug logs, identify the root cause, and apply the fix.</a:t>
            </a:r>
          </a:p>
          <a:p/>
          <a:p>
            <a:r>
              <a:t>The common thread: tasks that are well-defined and can be described in plain English.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some important warnings.</a:t>
            </a:r>
          </a:p>
          <a:p/>
          <a:p>
            <a:r>
              <a:t>First: always review the code. The agent writes good code, but you are the developer. You are responsible. Read every line before merging. Look for edge cases, security issues, and logic errors.</a:t>
            </a:r>
          </a:p>
          <a:p/>
          <a:p>
            <a:r>
              <a:t>Second: give clear prompts. If you say 'add a feature', the agent will guess. If you say 'add a Remember Me checkbox below the password field that saves the username to localStorage', the agent knows exactly what to do. Be specific.</a:t>
            </a:r>
          </a:p>
          <a:p/>
          <a:p>
            <a:r>
              <a:t>Third: test manually. The agent opens a browser and checks its work, but you should also verify. Try different browsers, different screen sizes, empty inputs, very long usernames, special characters.</a:t>
            </a:r>
          </a:p>
          <a:p/>
          <a:p>
            <a:r>
              <a:t>Fourth: avoid using AI for security-critical code like authentication, encryption, or payment processing without expert review. AI can miss subtle vulnerabilities.</a:t>
            </a:r>
          </a:p>
          <a:p/>
          <a:p>
            <a:r>
              <a:t>The bottom line: AI is your assistant, not your replacement. You own the code. You own the quality.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show you the live demo.</a:t>
            </a:r>
          </a:p>
          <a:p/>
          <a:p>
            <a:r>
              <a:t>On the left, you can see the git branch. The agent created feature/remember-me and all our work is on this branch. The main branch is untouched.</a:t>
            </a:r>
          </a:p>
          <a:p/>
          <a:p>
            <a:r>
              <a:t>In the middle, the git log shows the commit history. The agent wrote proper commit messages using the conventional commit format. The feat: prefix tells us this is a new feature.</a:t>
            </a:r>
          </a:p>
          <a:p/>
          <a:p>
            <a:r>
              <a:t>On the right, the working feature. I open the page, type testuser, check Remember Me, click Login. The page reloads and testuser is already filled in. The checkbox is still checked. The label is animated up.</a:t>
            </a:r>
          </a:p>
          <a:p/>
          <a:p>
            <a:r>
              <a:t>All of this was done by the Cursor Cloud Agent from a single prompt. The code is on GitHub right now if you want to check it out yourself.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wrap up with three key takeaways.</a:t>
            </a:r>
          </a:p>
          <a:p/>
          <a:p>
            <a:r>
              <a:t>One: AI improves productivity. The Cursor Cloud Agent handled a complete feature implementation in minutes. Branch creation, HTML changes, CSS styling, JavaScript logic, browser testing, and git commit. All automated. This frees you to focus on the things that matter most: architecture, design decisions, and code review.</a:t>
            </a:r>
          </a:p>
          <a:p/>
          <a:p>
            <a:r>
              <a:t>Two: developer review is essential. AI writes code, but you own the quality. Always read the diff, test edge cases, check for security issues. Treat AI output exactly like a pull request from a colleague. You would not merge a colleague's code without reviewing it, right?</a:t>
            </a:r>
          </a:p>
          <a:p/>
          <a:p>
            <a:r>
              <a:t>Three: Cursor is an assistant, not a replacement. The best results come from collaboration. You provide the vision, the context, and the judgment. The agent provides speed and consistency.</a:t>
            </a:r>
          </a:p>
          <a:p/>
          <a:p>
            <a:r>
              <a:t>The best developer is one who knows when to code themselves and when to let AI handle the routine 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everyone for listening!</a:t>
            </a:r>
          </a:p>
          <a:p/>
          <a:p>
            <a:r>
              <a:t>I hope this talk showed you that AI coding tools like Cursor Cloud Agent are practical and useful for real development work, not just demos.</a:t>
            </a:r>
          </a:p>
          <a:p/>
          <a:p>
            <a:r>
              <a:t>The project is on GitHub if you want to explore it. The branch feature/remember-me has all the changes we discussed today.</a:t>
            </a:r>
          </a:p>
          <a:p/>
          <a:p>
            <a:r>
              <a:t>Cursor is free to get started, so I encourage you to try it on your own projects.</a:t>
            </a:r>
          </a:p>
          <a:p/>
          <a:p>
            <a:r>
              <a:t>Now I am happy to take any questions. Feel free to ask about Cursor, about the Remember Me feature, or about using AI tools in your development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CFDF5"/>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961120" y="914400"/>
            <a:ext cx="2560320" cy="2560320"/>
          </a:xfrm>
          <a:prstGeom prst="ellipse">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
CURSOR
CLOUD</a:t>
            </a:r>
          </a:p>
        </p:txBody>
      </p:sp>
      <p:sp>
        <p:nvSpPr>
          <p:cNvPr id="5" name="TextBox 4"/>
          <p:cNvSpPr txBox="1"/>
          <p:nvPr/>
        </p:nvSpPr>
        <p:spPr>
          <a:xfrm>
            <a:off x="914400" y="1645920"/>
            <a:ext cx="7772400" cy="1097280"/>
          </a:xfrm>
          <a:prstGeom prst="rect">
            <a:avLst/>
          </a:prstGeom>
          <a:noFill/>
        </p:spPr>
        <p:txBody>
          <a:bodyPr wrap="none">
            <a:spAutoFit/>
          </a:bodyPr>
          <a:lstStyle/>
          <a:p>
            <a:pPr>
              <a:defRPr sz="4200" b="1">
                <a:solidFill>
                  <a:srgbClr val="1A1A2E"/>
                </a:solidFill>
                <a:latin typeface="Calibri"/>
              </a:defRPr>
            </a:pPr>
            <a:r>
              <a:t>Using Cursor Cloud Agent</a:t>
            </a:r>
          </a:p>
          <a:p>
            <a:pPr>
              <a:defRPr sz="4200" b="1">
                <a:solidFill>
                  <a:srgbClr val="38D39F"/>
                </a:solidFill>
                <a:latin typeface="Calibri"/>
              </a:defRPr>
            </a:pPr>
            <a:r>
              <a:t>for Real Development Tasks</a:t>
            </a:r>
          </a:p>
        </p:txBody>
      </p:sp>
      <p:sp>
        <p:nvSpPr>
          <p:cNvPr id="6" name="TextBox 5"/>
          <p:cNvSpPr txBox="1"/>
          <p:nvPr/>
        </p:nvSpPr>
        <p:spPr>
          <a:xfrm>
            <a:off x="914400" y="3657600"/>
            <a:ext cx="7315200" cy="2286000"/>
          </a:xfrm>
          <a:prstGeom prst="rect">
            <a:avLst/>
          </a:prstGeom>
          <a:noFill/>
        </p:spPr>
        <p:txBody>
          <a:bodyPr wrap="none">
            <a:spAutoFit/>
          </a:bodyPr>
          <a:lstStyle/>
          <a:p>
            <a:pPr>
              <a:spcAft>
                <a:spcPts val="400"/>
              </a:spcAft>
              <a:defRPr sz="1200" b="0">
                <a:solidFill>
                  <a:srgbClr val="9999A5"/>
                </a:solidFill>
                <a:latin typeface="Calibri"/>
              </a:defRPr>
            </a:pPr>
            <a:r>
              <a:t>Presented by</a:t>
            </a:r>
          </a:p>
          <a:p>
            <a:pPr>
              <a:spcAft>
                <a:spcPts val="400"/>
              </a:spcAft>
              <a:defRPr sz="2200" b="1">
                <a:solidFill>
                  <a:srgbClr val="1A1A2E"/>
                </a:solidFill>
                <a:latin typeface="Calibri"/>
              </a:defRPr>
            </a:pPr>
            <a:r>
              <a:t>Umadevitd</a:t>
            </a:r>
          </a:p>
          <a:p>
            <a:pPr>
              <a:spcAft>
                <a:spcPts val="400"/>
              </a:spcAft>
              <a:defRPr sz="1400" b="0">
                <a:solidFill>
                  <a:srgbClr val="666672"/>
                </a:solidFill>
                <a:latin typeface="Calibri"/>
              </a:defRPr>
            </a:pPr>
            <a:r>
              <a:t>Web Developer</a:t>
            </a:r>
          </a:p>
          <a:p>
            <a:pPr>
              <a:spcAft>
                <a:spcPts val="400"/>
              </a:spcAft>
              <a:defRPr sz="800" b="0">
                <a:solidFill>
                  <a:srgbClr val="666672"/>
                </a:solidFill>
                <a:latin typeface="Calibri"/>
              </a:defRPr>
            </a:pPr>
          </a:p>
          <a:p>
            <a:pPr>
              <a:spcAft>
                <a:spcPts val="400"/>
              </a:spcAft>
              <a:defRPr sz="1400" b="1">
                <a:solidFill>
                  <a:srgbClr val="38D39F"/>
                </a:solidFill>
                <a:latin typeface="Calibri"/>
              </a:defRPr>
            </a:pPr>
            <a:r>
              <a:t>Project: Responsive Login Form</a:t>
            </a:r>
          </a:p>
          <a:p>
            <a:pPr>
              <a:spcAft>
                <a:spcPts val="400"/>
              </a:spcAft>
              <a:defRPr sz="1100" b="0">
                <a:solidFill>
                  <a:srgbClr val="9999A5"/>
                </a:solidFill>
                <a:latin typeface="Calibri"/>
              </a:defRPr>
            </a:pPr>
            <a:r>
              <a:t>github.com/Umadevitd/Responsive-Login-Form</a:t>
            </a:r>
          </a:p>
        </p:txBody>
      </p:sp>
      <p:sp>
        <p:nvSpPr>
          <p:cNvPr id="7" name="TextBox 6"/>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8" name="TextBox 7"/>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What is Cursor?</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An AI-powered code editor built for modern developers</a:t>
            </a:r>
          </a:p>
        </p:txBody>
      </p:sp>
      <p:sp>
        <p:nvSpPr>
          <p:cNvPr id="5" name="Rounded Rectangle 4"/>
          <p:cNvSpPr/>
          <p:nvPr/>
        </p:nvSpPr>
        <p:spPr>
          <a:xfrm>
            <a:off x="731520" y="1554480"/>
            <a:ext cx="512064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54864" cy="1828800"/>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64208"/>
            <a:ext cx="4800600" cy="320040"/>
          </a:xfrm>
          <a:prstGeom prst="rect">
            <a:avLst/>
          </a:prstGeom>
          <a:noFill/>
        </p:spPr>
        <p:txBody>
          <a:bodyPr wrap="none">
            <a:spAutoFit/>
          </a:bodyPr>
          <a:lstStyle/>
          <a:p>
            <a:pPr>
              <a:defRPr sz="1400" b="1">
                <a:solidFill>
                  <a:srgbClr val="1A1A2E"/>
                </a:solidFill>
                <a:latin typeface="Calibri"/>
              </a:defRPr>
            </a:pPr>
            <a:r>
              <a:t>🧠  AI-Powered Assistant</a:t>
            </a:r>
          </a:p>
        </p:txBody>
      </p:sp>
      <p:sp>
        <p:nvSpPr>
          <p:cNvPr id="8" name="TextBox 7"/>
          <p:cNvSpPr txBox="1"/>
          <p:nvPr/>
        </p:nvSpPr>
        <p:spPr>
          <a:xfrm>
            <a:off x="932688" y="1993392"/>
            <a:ext cx="4800600" cy="1325880"/>
          </a:xfrm>
          <a:prstGeom prst="rect">
            <a:avLst/>
          </a:prstGeom>
          <a:noFill/>
        </p:spPr>
        <p:txBody>
          <a:bodyPr wrap="square">
            <a:spAutoFit/>
          </a:bodyPr>
          <a:lstStyle/>
          <a:p>
            <a:pPr>
              <a:spcAft>
                <a:spcPts val="300"/>
              </a:spcAft>
              <a:defRPr sz="1200">
                <a:solidFill>
                  <a:srgbClr val="666672"/>
                </a:solidFill>
                <a:latin typeface="Calibri"/>
              </a:defRPr>
            </a:pPr>
            <a:r>
              <a:t>Cursor is a code editor with built-in AI.</a:t>
            </a:r>
          </a:p>
          <a:p>
            <a:pPr>
              <a:spcAft>
                <a:spcPts val="300"/>
              </a:spcAft>
              <a:defRPr sz="1200">
                <a:solidFill>
                  <a:srgbClr val="666672"/>
                </a:solidFill>
                <a:latin typeface="Calibri"/>
              </a:defRPr>
            </a:pPr>
            <a:r>
              <a:t>It can understand your code, answer</a:t>
            </a:r>
          </a:p>
          <a:p>
            <a:pPr>
              <a:spcAft>
                <a:spcPts val="300"/>
              </a:spcAft>
              <a:defRPr sz="1200">
                <a:solidFill>
                  <a:srgbClr val="666672"/>
                </a:solidFill>
                <a:latin typeface="Calibri"/>
              </a:defRPr>
            </a:pPr>
            <a:r>
              <a:t>questions, and make changes for you.</a:t>
            </a:r>
          </a:p>
        </p:txBody>
      </p:sp>
      <p:sp>
        <p:nvSpPr>
          <p:cNvPr id="9" name="Rounded Rectangle 8"/>
          <p:cNvSpPr/>
          <p:nvPr/>
        </p:nvSpPr>
        <p:spPr>
          <a:xfrm>
            <a:off x="6309360" y="1554480"/>
            <a:ext cx="512064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4864" cy="1828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1664208"/>
            <a:ext cx="4800600" cy="320040"/>
          </a:xfrm>
          <a:prstGeom prst="rect">
            <a:avLst/>
          </a:prstGeom>
          <a:noFill/>
        </p:spPr>
        <p:txBody>
          <a:bodyPr wrap="none">
            <a:spAutoFit/>
          </a:bodyPr>
          <a:lstStyle/>
          <a:p>
            <a:pPr>
              <a:defRPr sz="1400" b="1">
                <a:solidFill>
                  <a:srgbClr val="1A1A2E"/>
                </a:solidFill>
                <a:latin typeface="Calibri"/>
              </a:defRPr>
            </a:pPr>
            <a:r>
              <a:t>💻  Works Inside Your IDE</a:t>
            </a:r>
          </a:p>
        </p:txBody>
      </p:sp>
      <p:sp>
        <p:nvSpPr>
          <p:cNvPr id="12" name="TextBox 11"/>
          <p:cNvSpPr txBox="1"/>
          <p:nvPr/>
        </p:nvSpPr>
        <p:spPr>
          <a:xfrm>
            <a:off x="6510528" y="1993392"/>
            <a:ext cx="4800600" cy="1325880"/>
          </a:xfrm>
          <a:prstGeom prst="rect">
            <a:avLst/>
          </a:prstGeom>
          <a:noFill/>
        </p:spPr>
        <p:txBody>
          <a:bodyPr wrap="square">
            <a:spAutoFit/>
          </a:bodyPr>
          <a:lstStyle/>
          <a:p>
            <a:pPr>
              <a:spcAft>
                <a:spcPts val="300"/>
              </a:spcAft>
              <a:defRPr sz="1200">
                <a:solidFill>
                  <a:srgbClr val="666672"/>
                </a:solidFill>
                <a:latin typeface="Calibri"/>
              </a:defRPr>
            </a:pPr>
            <a:r>
              <a:t>You don't need to switch tools.</a:t>
            </a:r>
          </a:p>
          <a:p>
            <a:pPr>
              <a:spcAft>
                <a:spcPts val="300"/>
              </a:spcAft>
              <a:defRPr sz="1200">
                <a:solidFill>
                  <a:srgbClr val="666672"/>
                </a:solidFill>
                <a:latin typeface="Calibri"/>
              </a:defRPr>
            </a:pPr>
            <a:r>
              <a:t>Cursor works right where you code —</a:t>
            </a:r>
          </a:p>
          <a:p>
            <a:pPr>
              <a:spcAft>
                <a:spcPts val="300"/>
              </a:spcAft>
              <a:defRPr sz="1200">
                <a:solidFill>
                  <a:srgbClr val="666672"/>
                </a:solidFill>
                <a:latin typeface="Calibri"/>
              </a:defRPr>
            </a:pPr>
            <a:r>
              <a:t>just like VS Code, but smarter.</a:t>
            </a:r>
          </a:p>
        </p:txBody>
      </p:sp>
      <p:sp>
        <p:nvSpPr>
          <p:cNvPr id="13" name="Rounded Rectangle 12"/>
          <p:cNvSpPr/>
          <p:nvPr/>
        </p:nvSpPr>
        <p:spPr>
          <a:xfrm>
            <a:off x="731520" y="3931920"/>
            <a:ext cx="512064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931920"/>
            <a:ext cx="54864" cy="1828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041648"/>
            <a:ext cx="4800600" cy="320040"/>
          </a:xfrm>
          <a:prstGeom prst="rect">
            <a:avLst/>
          </a:prstGeom>
          <a:noFill/>
        </p:spPr>
        <p:txBody>
          <a:bodyPr wrap="none">
            <a:spAutoFit/>
          </a:bodyPr>
          <a:lstStyle/>
          <a:p>
            <a:pPr>
              <a:defRPr sz="1400" b="1">
                <a:solidFill>
                  <a:srgbClr val="1A1A2E"/>
                </a:solidFill>
                <a:latin typeface="Calibri"/>
              </a:defRPr>
            </a:pPr>
            <a:r>
              <a:t>🔍  Understands Project Context</a:t>
            </a:r>
          </a:p>
        </p:txBody>
      </p:sp>
      <p:sp>
        <p:nvSpPr>
          <p:cNvPr id="16" name="TextBox 15"/>
          <p:cNvSpPr txBox="1"/>
          <p:nvPr/>
        </p:nvSpPr>
        <p:spPr>
          <a:xfrm>
            <a:off x="932688" y="4370832"/>
            <a:ext cx="4800600" cy="1325880"/>
          </a:xfrm>
          <a:prstGeom prst="rect">
            <a:avLst/>
          </a:prstGeom>
          <a:noFill/>
        </p:spPr>
        <p:txBody>
          <a:bodyPr wrap="square">
            <a:spAutoFit/>
          </a:bodyPr>
          <a:lstStyle/>
          <a:p>
            <a:pPr>
              <a:spcAft>
                <a:spcPts val="300"/>
              </a:spcAft>
              <a:defRPr sz="1200">
                <a:solidFill>
                  <a:srgbClr val="666672"/>
                </a:solidFill>
                <a:latin typeface="Calibri"/>
              </a:defRPr>
            </a:pPr>
            <a:r>
              <a:t>It reads your files, folders, and structure.</a:t>
            </a:r>
          </a:p>
          <a:p>
            <a:pPr>
              <a:spcAft>
                <a:spcPts val="300"/>
              </a:spcAft>
              <a:defRPr sz="1200">
                <a:solidFill>
                  <a:srgbClr val="666672"/>
                </a:solidFill>
                <a:latin typeface="Calibri"/>
              </a:defRPr>
            </a:pPr>
            <a:r>
              <a:t>It knows what your project does</a:t>
            </a:r>
          </a:p>
          <a:p>
            <a:pPr>
              <a:spcAft>
                <a:spcPts val="300"/>
              </a:spcAft>
              <a:defRPr sz="1200">
                <a:solidFill>
                  <a:srgbClr val="666672"/>
                </a:solidFill>
                <a:latin typeface="Calibri"/>
              </a:defRPr>
            </a:pPr>
            <a:r>
              <a:t>before you even explain it.</a:t>
            </a:r>
          </a:p>
        </p:txBody>
      </p:sp>
      <p:sp>
        <p:nvSpPr>
          <p:cNvPr id="17" name="Rounded Rectangle 16"/>
          <p:cNvSpPr/>
          <p:nvPr/>
        </p:nvSpPr>
        <p:spPr>
          <a:xfrm>
            <a:off x="6309360" y="3931920"/>
            <a:ext cx="512064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3931920"/>
            <a:ext cx="54864" cy="1828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4041648"/>
            <a:ext cx="4800600" cy="320040"/>
          </a:xfrm>
          <a:prstGeom prst="rect">
            <a:avLst/>
          </a:prstGeom>
          <a:noFill/>
        </p:spPr>
        <p:txBody>
          <a:bodyPr wrap="none">
            <a:spAutoFit/>
          </a:bodyPr>
          <a:lstStyle/>
          <a:p>
            <a:pPr>
              <a:defRPr sz="1400" b="1">
                <a:solidFill>
                  <a:srgbClr val="1A1A2E"/>
                </a:solidFill>
                <a:latin typeface="Calibri"/>
              </a:defRPr>
            </a:pPr>
            <a:r>
              <a:t>🛡️  Modifies Code Safely</a:t>
            </a:r>
          </a:p>
        </p:txBody>
      </p:sp>
      <p:sp>
        <p:nvSpPr>
          <p:cNvPr id="20" name="TextBox 19"/>
          <p:cNvSpPr txBox="1"/>
          <p:nvPr/>
        </p:nvSpPr>
        <p:spPr>
          <a:xfrm>
            <a:off x="6510528" y="4370832"/>
            <a:ext cx="4800600" cy="1325880"/>
          </a:xfrm>
          <a:prstGeom prst="rect">
            <a:avLst/>
          </a:prstGeom>
          <a:noFill/>
        </p:spPr>
        <p:txBody>
          <a:bodyPr wrap="square">
            <a:spAutoFit/>
          </a:bodyPr>
          <a:lstStyle/>
          <a:p>
            <a:pPr>
              <a:spcAft>
                <a:spcPts val="300"/>
              </a:spcAft>
              <a:defRPr sz="1200">
                <a:solidFill>
                  <a:srgbClr val="666672"/>
                </a:solidFill>
                <a:latin typeface="Calibri"/>
              </a:defRPr>
            </a:pPr>
            <a:r>
              <a:t>It can edit real files in your project.</a:t>
            </a:r>
          </a:p>
          <a:p>
            <a:pPr>
              <a:spcAft>
                <a:spcPts val="300"/>
              </a:spcAft>
              <a:defRPr sz="1200">
                <a:solidFill>
                  <a:srgbClr val="666672"/>
                </a:solidFill>
                <a:latin typeface="Calibri"/>
              </a:defRPr>
            </a:pPr>
            <a:r>
              <a:t>But it does it carefully — following</a:t>
            </a:r>
          </a:p>
          <a:p>
            <a:pPr>
              <a:spcAft>
                <a:spcPts val="300"/>
              </a:spcAft>
              <a:defRPr sz="1200">
                <a:solidFill>
                  <a:srgbClr val="666672"/>
                </a:solidFill>
                <a:latin typeface="Calibri"/>
              </a:defRPr>
            </a:pPr>
            <a:r>
              <a:t>your instructions step by step.</a:t>
            </a:r>
          </a:p>
        </p:txBody>
      </p:sp>
      <p:sp>
        <p:nvSpPr>
          <p:cNvPr id="21" name="TextBox 20"/>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22" name="TextBox 21"/>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What is Cursor Cloud Agent?</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An autonomous agent that works like a real developer in the cloud</a:t>
            </a:r>
          </a:p>
        </p:txBody>
      </p:sp>
      <p:sp>
        <p:nvSpPr>
          <p:cNvPr id="5" name="TextBox 4"/>
          <p:cNvSpPr txBox="1"/>
          <p:nvPr/>
        </p:nvSpPr>
        <p:spPr>
          <a:xfrm>
            <a:off x="731520" y="1554480"/>
            <a:ext cx="5120640" cy="365760"/>
          </a:xfrm>
          <a:prstGeom prst="rect">
            <a:avLst/>
          </a:prstGeom>
          <a:noFill/>
        </p:spPr>
        <p:txBody>
          <a:bodyPr wrap="none">
            <a:spAutoFit/>
          </a:bodyPr>
          <a:lstStyle/>
          <a:p>
            <a:pPr>
              <a:defRPr sz="1600" b="1">
                <a:solidFill>
                  <a:srgbClr val="1A1A2E"/>
                </a:solidFill>
                <a:latin typeface="Calibri"/>
              </a:defRPr>
            </a:pPr>
            <a:r>
              <a:t>☁️  Runs in the Cloud</a:t>
            </a:r>
          </a:p>
        </p:txBody>
      </p:sp>
      <p:sp>
        <p:nvSpPr>
          <p:cNvPr id="6" name="TextBox 5"/>
          <p:cNvSpPr txBox="1"/>
          <p:nvPr/>
        </p:nvSpPr>
        <p:spPr>
          <a:xfrm>
            <a:off x="822960" y="1920240"/>
            <a:ext cx="5029200" cy="914400"/>
          </a:xfrm>
          <a:prstGeom prst="rect">
            <a:avLst/>
          </a:prstGeom>
          <a:noFill/>
        </p:spPr>
        <p:txBody>
          <a:bodyPr wrap="square">
            <a:spAutoFit/>
          </a:bodyPr>
          <a:lstStyle/>
          <a:p>
            <a:pPr>
              <a:defRPr sz="1300">
                <a:solidFill>
                  <a:srgbClr val="666672"/>
                </a:solidFill>
                <a:latin typeface="Calibri"/>
              </a:defRPr>
            </a:pPr>
            <a:r>
              <a:t>Executes tasks on a virtual machine, not on your local computer.</a:t>
            </a:r>
            <a:br/>
            <a:r>
              <a:t>You give it instructions and it works autonomously.</a:t>
            </a:r>
          </a:p>
        </p:txBody>
      </p:sp>
      <p:sp>
        <p:nvSpPr>
          <p:cNvPr id="7" name="TextBox 6"/>
          <p:cNvSpPr txBox="1"/>
          <p:nvPr/>
        </p:nvSpPr>
        <p:spPr>
          <a:xfrm>
            <a:off x="6309360" y="1554480"/>
            <a:ext cx="5120640" cy="365760"/>
          </a:xfrm>
          <a:prstGeom prst="rect">
            <a:avLst/>
          </a:prstGeom>
          <a:noFill/>
        </p:spPr>
        <p:txBody>
          <a:bodyPr wrap="none">
            <a:spAutoFit/>
          </a:bodyPr>
          <a:lstStyle/>
          <a:p>
            <a:pPr>
              <a:defRPr sz="1600" b="1">
                <a:solidFill>
                  <a:srgbClr val="1A1A2E"/>
                </a:solidFill>
                <a:latin typeface="Calibri"/>
              </a:defRPr>
            </a:pPr>
            <a:r>
              <a:t>🔀  Creates Git Branches</a:t>
            </a:r>
          </a:p>
        </p:txBody>
      </p:sp>
      <p:sp>
        <p:nvSpPr>
          <p:cNvPr id="8" name="TextBox 7"/>
          <p:cNvSpPr txBox="1"/>
          <p:nvPr/>
        </p:nvSpPr>
        <p:spPr>
          <a:xfrm>
            <a:off x="6400800" y="1920240"/>
            <a:ext cx="5029200" cy="914400"/>
          </a:xfrm>
          <a:prstGeom prst="rect">
            <a:avLst/>
          </a:prstGeom>
          <a:noFill/>
        </p:spPr>
        <p:txBody>
          <a:bodyPr wrap="square">
            <a:spAutoFit/>
          </a:bodyPr>
          <a:lstStyle/>
          <a:p>
            <a:pPr>
              <a:defRPr sz="1300">
                <a:solidFill>
                  <a:srgbClr val="666672"/>
                </a:solidFill>
                <a:latin typeface="Calibri"/>
              </a:defRPr>
            </a:pPr>
            <a:r>
              <a:t>Automatically creates feature branches following your naming</a:t>
            </a:r>
            <a:br/>
            <a:r>
              <a:t>conventions. Keeps your main branch clean and safe.</a:t>
            </a:r>
          </a:p>
        </p:txBody>
      </p:sp>
      <p:sp>
        <p:nvSpPr>
          <p:cNvPr id="9" name="TextBox 8"/>
          <p:cNvSpPr txBox="1"/>
          <p:nvPr/>
        </p:nvSpPr>
        <p:spPr>
          <a:xfrm>
            <a:off x="731520" y="3108960"/>
            <a:ext cx="5120640" cy="365760"/>
          </a:xfrm>
          <a:prstGeom prst="rect">
            <a:avLst/>
          </a:prstGeom>
          <a:noFill/>
        </p:spPr>
        <p:txBody>
          <a:bodyPr wrap="none">
            <a:spAutoFit/>
          </a:bodyPr>
          <a:lstStyle/>
          <a:p>
            <a:pPr>
              <a:defRPr sz="1600" b="1">
                <a:solidFill>
                  <a:srgbClr val="1A1A2E"/>
                </a:solidFill>
                <a:latin typeface="Calibri"/>
              </a:defRPr>
            </a:pPr>
            <a:r>
              <a:t>✏️  Modifies Real Files</a:t>
            </a:r>
          </a:p>
        </p:txBody>
      </p:sp>
      <p:sp>
        <p:nvSpPr>
          <p:cNvPr id="10" name="TextBox 9"/>
          <p:cNvSpPr txBox="1"/>
          <p:nvPr/>
        </p:nvSpPr>
        <p:spPr>
          <a:xfrm>
            <a:off x="822960" y="3474720"/>
            <a:ext cx="5029200" cy="914400"/>
          </a:xfrm>
          <a:prstGeom prst="rect">
            <a:avLst/>
          </a:prstGeom>
          <a:noFill/>
        </p:spPr>
        <p:txBody>
          <a:bodyPr wrap="square">
            <a:spAutoFit/>
          </a:bodyPr>
          <a:lstStyle/>
          <a:p>
            <a:pPr>
              <a:defRPr sz="1300">
                <a:solidFill>
                  <a:srgbClr val="666672"/>
                </a:solidFill>
                <a:latin typeface="Calibri"/>
              </a:defRPr>
            </a:pPr>
            <a:r>
              <a:t>Reads, edits, and creates files across your entire project.</a:t>
            </a:r>
            <a:br/>
            <a:r>
              <a:t>HTML, CSS, JavaScript — whatever the task needs.</a:t>
            </a:r>
          </a:p>
        </p:txBody>
      </p:sp>
      <p:sp>
        <p:nvSpPr>
          <p:cNvPr id="11" name="TextBox 10"/>
          <p:cNvSpPr txBox="1"/>
          <p:nvPr/>
        </p:nvSpPr>
        <p:spPr>
          <a:xfrm>
            <a:off x="6309360" y="3108960"/>
            <a:ext cx="5120640" cy="365760"/>
          </a:xfrm>
          <a:prstGeom prst="rect">
            <a:avLst/>
          </a:prstGeom>
          <a:noFill/>
        </p:spPr>
        <p:txBody>
          <a:bodyPr wrap="none">
            <a:spAutoFit/>
          </a:bodyPr>
          <a:lstStyle/>
          <a:p>
            <a:pPr>
              <a:defRPr sz="1600" b="1">
                <a:solidFill>
                  <a:srgbClr val="1A1A2E"/>
                </a:solidFill>
                <a:latin typeface="Calibri"/>
              </a:defRPr>
            </a:pPr>
            <a:r>
              <a:t>✅  Commits &amp; Pushes</a:t>
            </a:r>
          </a:p>
        </p:txBody>
      </p:sp>
      <p:sp>
        <p:nvSpPr>
          <p:cNvPr id="12" name="TextBox 11"/>
          <p:cNvSpPr txBox="1"/>
          <p:nvPr/>
        </p:nvSpPr>
        <p:spPr>
          <a:xfrm>
            <a:off x="6400800" y="3474720"/>
            <a:ext cx="5029200" cy="914400"/>
          </a:xfrm>
          <a:prstGeom prst="rect">
            <a:avLst/>
          </a:prstGeom>
          <a:noFill/>
        </p:spPr>
        <p:txBody>
          <a:bodyPr wrap="square">
            <a:spAutoFit/>
          </a:bodyPr>
          <a:lstStyle/>
          <a:p>
            <a:pPr>
              <a:defRPr sz="1300">
                <a:solidFill>
                  <a:srgbClr val="666672"/>
                </a:solidFill>
                <a:latin typeface="Calibri"/>
              </a:defRPr>
            </a:pPr>
            <a:r>
              <a:t>Stages changes, writes descriptive commit messages, and pushes</a:t>
            </a:r>
            <a:br/>
            <a:r>
              <a:t>to your remote repository. Ready for pull request review.</a:t>
            </a:r>
          </a:p>
        </p:txBody>
      </p:sp>
      <p:sp>
        <p:nvSpPr>
          <p:cNvPr id="13" name="TextBox 12"/>
          <p:cNvSpPr txBox="1"/>
          <p:nvPr/>
        </p:nvSpPr>
        <p:spPr>
          <a:xfrm>
            <a:off x="731520" y="4663440"/>
            <a:ext cx="5120640" cy="365760"/>
          </a:xfrm>
          <a:prstGeom prst="rect">
            <a:avLst/>
          </a:prstGeom>
          <a:noFill/>
        </p:spPr>
        <p:txBody>
          <a:bodyPr wrap="none">
            <a:spAutoFit/>
          </a:bodyPr>
          <a:lstStyle/>
          <a:p>
            <a:pPr>
              <a:defRPr sz="1600" b="1">
                <a:solidFill>
                  <a:srgbClr val="1A1A2E"/>
                </a:solidFill>
                <a:latin typeface="Calibri"/>
              </a:defRPr>
            </a:pPr>
            <a:r>
              <a:t>📋  Follows Instructions</a:t>
            </a:r>
          </a:p>
        </p:txBody>
      </p:sp>
      <p:sp>
        <p:nvSpPr>
          <p:cNvPr id="14" name="TextBox 13"/>
          <p:cNvSpPr txBox="1"/>
          <p:nvPr/>
        </p:nvSpPr>
        <p:spPr>
          <a:xfrm>
            <a:off x="822960" y="5029200"/>
            <a:ext cx="5029200" cy="914400"/>
          </a:xfrm>
          <a:prstGeom prst="rect">
            <a:avLst/>
          </a:prstGeom>
          <a:noFill/>
        </p:spPr>
        <p:txBody>
          <a:bodyPr wrap="square">
            <a:spAutoFit/>
          </a:bodyPr>
          <a:lstStyle/>
          <a:p>
            <a:pPr>
              <a:defRPr sz="1300">
                <a:solidFill>
                  <a:srgbClr val="666672"/>
                </a:solidFill>
                <a:latin typeface="Calibri"/>
              </a:defRPr>
            </a:pPr>
            <a:r>
              <a:t>Reads your prompt step by step, breaks it into tasks, and</a:t>
            </a:r>
            <a:br/>
            <a:r>
              <a:t>executes each one in order. Just like a junior developer.</a:t>
            </a:r>
          </a:p>
        </p:txBody>
      </p:sp>
      <p:sp>
        <p:nvSpPr>
          <p:cNvPr id="15" name="TextBox 14"/>
          <p:cNvSpPr txBox="1"/>
          <p:nvPr/>
        </p:nvSpPr>
        <p:spPr>
          <a:xfrm>
            <a:off x="6309360" y="4663440"/>
            <a:ext cx="5120640" cy="365760"/>
          </a:xfrm>
          <a:prstGeom prst="rect">
            <a:avLst/>
          </a:prstGeom>
          <a:noFill/>
        </p:spPr>
        <p:txBody>
          <a:bodyPr wrap="none">
            <a:spAutoFit/>
          </a:bodyPr>
          <a:lstStyle/>
          <a:p>
            <a:pPr>
              <a:defRPr sz="1600" b="1">
                <a:solidFill>
                  <a:srgbClr val="1A1A2E"/>
                </a:solidFill>
                <a:latin typeface="Calibri"/>
              </a:defRPr>
            </a:pPr>
            <a:r>
              <a:t>🧪  Tests Its Own Work</a:t>
            </a:r>
          </a:p>
        </p:txBody>
      </p:sp>
      <p:sp>
        <p:nvSpPr>
          <p:cNvPr id="16" name="TextBox 15"/>
          <p:cNvSpPr txBox="1"/>
          <p:nvPr/>
        </p:nvSpPr>
        <p:spPr>
          <a:xfrm>
            <a:off x="6400800" y="5029200"/>
            <a:ext cx="5029200" cy="914400"/>
          </a:xfrm>
          <a:prstGeom prst="rect">
            <a:avLst/>
          </a:prstGeom>
          <a:noFill/>
        </p:spPr>
        <p:txBody>
          <a:bodyPr wrap="square">
            <a:spAutoFit/>
          </a:bodyPr>
          <a:lstStyle/>
          <a:p>
            <a:pPr>
              <a:defRPr sz="1300">
                <a:solidFill>
                  <a:srgbClr val="666672"/>
                </a:solidFill>
                <a:latin typeface="Calibri"/>
              </a:defRPr>
            </a:pPr>
            <a:r>
              <a:t>Opens a browser, verifies the UI looks correct, and takes</a:t>
            </a:r>
            <a:br/>
            <a:r>
              <a:t>screenshots to prove the feature is working.</a:t>
            </a:r>
          </a:p>
        </p:txBody>
      </p:sp>
      <p:sp>
        <p:nvSpPr>
          <p:cNvPr id="17" name="TextBox 16"/>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18" name="TextBox 17"/>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Real Example From My Project</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The exact prompt I gave to the Cursor Cloud Agent</a:t>
            </a:r>
          </a:p>
        </p:txBody>
      </p:sp>
      <p:sp>
        <p:nvSpPr>
          <p:cNvPr id="5" name="TextBox 4"/>
          <p:cNvSpPr txBox="1"/>
          <p:nvPr/>
        </p:nvSpPr>
        <p:spPr>
          <a:xfrm>
            <a:off x="731520" y="1417320"/>
            <a:ext cx="2743200" cy="320040"/>
          </a:xfrm>
          <a:prstGeom prst="rect">
            <a:avLst/>
          </a:prstGeom>
          <a:noFill/>
        </p:spPr>
        <p:txBody>
          <a:bodyPr wrap="none">
            <a:spAutoFit/>
          </a:bodyPr>
          <a:lstStyle/>
          <a:p>
            <a:pPr>
              <a:defRPr sz="1100" b="1">
                <a:solidFill>
                  <a:srgbClr val="38D39F"/>
                </a:solidFill>
                <a:latin typeface="Calibri"/>
              </a:defRPr>
            </a:pPr>
            <a:r>
              <a:t>MY PROMPT TO THE AGENT</a:t>
            </a:r>
          </a:p>
        </p:txBody>
      </p:sp>
      <p:sp>
        <p:nvSpPr>
          <p:cNvPr id="6" name="Rounded Rectangle 5"/>
          <p:cNvSpPr/>
          <p:nvPr/>
        </p:nvSpPr>
        <p:spPr>
          <a:xfrm>
            <a:off x="731520" y="1783080"/>
            <a:ext cx="640080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Create a new branch called feature/remember-me.</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Add a "Remember Me" checkbox below the password field.</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When the form is submitted:</a:t>
            </a:r>
          </a:p>
          <a:p>
            <a:pPr>
              <a:spcBef>
                <a:spcPts val="200"/>
              </a:spcBef>
              <a:spcAft>
                <a:spcPts val="200"/>
              </a:spcAft>
              <a:defRPr sz="1200">
                <a:solidFill>
                  <a:srgbClr val="E2E8F0"/>
                </a:solidFill>
                <a:latin typeface="Consolas"/>
              </a:defRPr>
            </a:pPr>
            <a:r>
              <a:t>  - If Remember Me is checked, store the username</a:t>
            </a:r>
          </a:p>
          <a:p>
            <a:pPr>
              <a:spcBef>
                <a:spcPts val="200"/>
              </a:spcBef>
              <a:spcAft>
                <a:spcPts val="200"/>
              </a:spcAft>
              <a:defRPr sz="1200">
                <a:solidFill>
                  <a:srgbClr val="E2E8F0"/>
                </a:solidFill>
                <a:latin typeface="Consolas"/>
              </a:defRPr>
            </a:pPr>
            <a:r>
              <a:t>    in localStorage.</a:t>
            </a:r>
          </a:p>
          <a:p>
            <a:pPr>
              <a:spcBef>
                <a:spcPts val="200"/>
              </a:spcBef>
              <a:spcAft>
                <a:spcPts val="200"/>
              </a:spcAft>
              <a:defRPr sz="1200">
                <a:solidFill>
                  <a:srgbClr val="E2E8F0"/>
                </a:solidFill>
                <a:latin typeface="Consolas"/>
              </a:defRPr>
            </a:pPr>
            <a:r>
              <a:t>  - When the page reloads, auto-fill the username</a:t>
            </a:r>
          </a:p>
          <a:p>
            <a:pPr>
              <a:spcBef>
                <a:spcPts val="200"/>
              </a:spcBef>
              <a:spcAft>
                <a:spcPts val="200"/>
              </a:spcAft>
              <a:defRPr sz="1200">
                <a:solidFill>
                  <a:srgbClr val="E2E8F0"/>
                </a:solidFill>
                <a:latin typeface="Consolas"/>
              </a:defRPr>
            </a:pPr>
            <a:r>
              <a:t>    from localStorage.</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Do not break existing design.</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Commit changes with proper commit message.</a:t>
            </a:r>
          </a:p>
        </p:txBody>
      </p:sp>
      <p:sp>
        <p:nvSpPr>
          <p:cNvPr id="7" name="TextBox 6"/>
          <p:cNvSpPr txBox="1"/>
          <p:nvPr/>
        </p:nvSpPr>
        <p:spPr>
          <a:xfrm>
            <a:off x="7772400" y="1417320"/>
            <a:ext cx="3657600" cy="320040"/>
          </a:xfrm>
          <a:prstGeom prst="rect">
            <a:avLst/>
          </a:prstGeom>
          <a:noFill/>
        </p:spPr>
        <p:txBody>
          <a:bodyPr wrap="none">
            <a:spAutoFit/>
          </a:bodyPr>
          <a:lstStyle/>
          <a:p>
            <a:pPr>
              <a:defRPr sz="1100" b="1">
                <a:solidFill>
                  <a:srgbClr val="38D39F"/>
                </a:solidFill>
                <a:latin typeface="Calibri"/>
              </a:defRPr>
            </a:pPr>
            <a:r>
              <a:t>WHAT THE AGENT UNDERSTOOD</a:t>
            </a:r>
          </a:p>
        </p:txBody>
      </p:sp>
      <p:sp>
        <p:nvSpPr>
          <p:cNvPr id="8" name="TextBox 7"/>
          <p:cNvSpPr txBox="1"/>
          <p:nvPr/>
        </p:nvSpPr>
        <p:spPr>
          <a:xfrm>
            <a:off x="7772400" y="1920240"/>
            <a:ext cx="320040" cy="320040"/>
          </a:xfrm>
          <a:prstGeom prst="rect">
            <a:avLst/>
          </a:prstGeom>
          <a:noFill/>
        </p:spPr>
        <p:txBody>
          <a:bodyPr wrap="none">
            <a:spAutoFit/>
          </a:bodyPr>
          <a:lstStyle/>
          <a:p>
            <a:pPr algn="ctr">
              <a:defRPr sz="1800"/>
            </a:pPr>
            <a:r>
              <a:t>✅</a:t>
            </a:r>
          </a:p>
        </p:txBody>
      </p:sp>
      <p:sp>
        <p:nvSpPr>
          <p:cNvPr id="9" name="TextBox 8"/>
          <p:cNvSpPr txBox="1"/>
          <p:nvPr/>
        </p:nvSpPr>
        <p:spPr>
          <a:xfrm>
            <a:off x="8183880" y="1938528"/>
            <a:ext cx="3520440" cy="320040"/>
          </a:xfrm>
          <a:prstGeom prst="rect">
            <a:avLst/>
          </a:prstGeom>
          <a:noFill/>
        </p:spPr>
        <p:txBody>
          <a:bodyPr wrap="none">
            <a:spAutoFit/>
          </a:bodyPr>
          <a:lstStyle/>
          <a:p>
            <a:pPr>
              <a:defRPr sz="1500">
                <a:solidFill>
                  <a:srgbClr val="44445A"/>
                </a:solidFill>
                <a:latin typeface="Calibri"/>
              </a:defRPr>
            </a:pPr>
            <a:r>
              <a:t>Branch name: feature/remember-me</a:t>
            </a:r>
          </a:p>
        </p:txBody>
      </p:sp>
      <p:sp>
        <p:nvSpPr>
          <p:cNvPr id="10" name="TextBox 9"/>
          <p:cNvSpPr txBox="1"/>
          <p:nvPr/>
        </p:nvSpPr>
        <p:spPr>
          <a:xfrm>
            <a:off x="7772400" y="2423160"/>
            <a:ext cx="320040" cy="320040"/>
          </a:xfrm>
          <a:prstGeom prst="rect">
            <a:avLst/>
          </a:prstGeom>
          <a:noFill/>
        </p:spPr>
        <p:txBody>
          <a:bodyPr wrap="none">
            <a:spAutoFit/>
          </a:bodyPr>
          <a:lstStyle/>
          <a:p>
            <a:pPr algn="ctr">
              <a:defRPr sz="1800"/>
            </a:pPr>
            <a:r>
              <a:t>✅</a:t>
            </a:r>
          </a:p>
        </p:txBody>
      </p:sp>
      <p:sp>
        <p:nvSpPr>
          <p:cNvPr id="11" name="TextBox 10"/>
          <p:cNvSpPr txBox="1"/>
          <p:nvPr/>
        </p:nvSpPr>
        <p:spPr>
          <a:xfrm>
            <a:off x="8183880" y="2441448"/>
            <a:ext cx="3520440" cy="320040"/>
          </a:xfrm>
          <a:prstGeom prst="rect">
            <a:avLst/>
          </a:prstGeom>
          <a:noFill/>
        </p:spPr>
        <p:txBody>
          <a:bodyPr wrap="none">
            <a:spAutoFit/>
          </a:bodyPr>
          <a:lstStyle/>
          <a:p>
            <a:pPr>
              <a:defRPr sz="1500">
                <a:solidFill>
                  <a:srgbClr val="44445A"/>
                </a:solidFill>
                <a:latin typeface="Calibri"/>
              </a:defRPr>
            </a:pPr>
            <a:r>
              <a:t>New UI element: checkbox</a:t>
            </a:r>
          </a:p>
        </p:txBody>
      </p:sp>
      <p:sp>
        <p:nvSpPr>
          <p:cNvPr id="12" name="TextBox 11"/>
          <p:cNvSpPr txBox="1"/>
          <p:nvPr/>
        </p:nvSpPr>
        <p:spPr>
          <a:xfrm>
            <a:off x="7772400" y="2926080"/>
            <a:ext cx="320040" cy="320040"/>
          </a:xfrm>
          <a:prstGeom prst="rect">
            <a:avLst/>
          </a:prstGeom>
          <a:noFill/>
        </p:spPr>
        <p:txBody>
          <a:bodyPr wrap="none">
            <a:spAutoFit/>
          </a:bodyPr>
          <a:lstStyle/>
          <a:p>
            <a:pPr algn="ctr">
              <a:defRPr sz="1800"/>
            </a:pPr>
            <a:r>
              <a:t>✅</a:t>
            </a:r>
          </a:p>
        </p:txBody>
      </p:sp>
      <p:sp>
        <p:nvSpPr>
          <p:cNvPr id="13" name="TextBox 12"/>
          <p:cNvSpPr txBox="1"/>
          <p:nvPr/>
        </p:nvSpPr>
        <p:spPr>
          <a:xfrm>
            <a:off x="8183880" y="2944368"/>
            <a:ext cx="3520440" cy="320040"/>
          </a:xfrm>
          <a:prstGeom prst="rect">
            <a:avLst/>
          </a:prstGeom>
          <a:noFill/>
        </p:spPr>
        <p:txBody>
          <a:bodyPr wrap="none">
            <a:spAutoFit/>
          </a:bodyPr>
          <a:lstStyle/>
          <a:p>
            <a:pPr>
              <a:defRPr sz="1500">
                <a:solidFill>
                  <a:srgbClr val="44445A"/>
                </a:solidFill>
                <a:latin typeface="Calibri"/>
              </a:defRPr>
            </a:pPr>
            <a:r>
              <a:t>Position: below password field</a:t>
            </a:r>
          </a:p>
        </p:txBody>
      </p:sp>
      <p:sp>
        <p:nvSpPr>
          <p:cNvPr id="14" name="TextBox 13"/>
          <p:cNvSpPr txBox="1"/>
          <p:nvPr/>
        </p:nvSpPr>
        <p:spPr>
          <a:xfrm>
            <a:off x="7772400" y="3429000"/>
            <a:ext cx="320040" cy="320040"/>
          </a:xfrm>
          <a:prstGeom prst="rect">
            <a:avLst/>
          </a:prstGeom>
          <a:noFill/>
        </p:spPr>
        <p:txBody>
          <a:bodyPr wrap="none">
            <a:spAutoFit/>
          </a:bodyPr>
          <a:lstStyle/>
          <a:p>
            <a:pPr algn="ctr">
              <a:defRPr sz="1800"/>
            </a:pPr>
            <a:r>
              <a:t>✅</a:t>
            </a:r>
          </a:p>
        </p:txBody>
      </p:sp>
      <p:sp>
        <p:nvSpPr>
          <p:cNvPr id="15" name="TextBox 14"/>
          <p:cNvSpPr txBox="1"/>
          <p:nvPr/>
        </p:nvSpPr>
        <p:spPr>
          <a:xfrm>
            <a:off x="8183880" y="3447288"/>
            <a:ext cx="3520440" cy="320040"/>
          </a:xfrm>
          <a:prstGeom prst="rect">
            <a:avLst/>
          </a:prstGeom>
          <a:noFill/>
        </p:spPr>
        <p:txBody>
          <a:bodyPr wrap="none">
            <a:spAutoFit/>
          </a:bodyPr>
          <a:lstStyle/>
          <a:p>
            <a:pPr>
              <a:defRPr sz="1500">
                <a:solidFill>
                  <a:srgbClr val="44445A"/>
                </a:solidFill>
                <a:latin typeface="Calibri"/>
              </a:defRPr>
            </a:pPr>
            <a:r>
              <a:t>On submit + checked: save to localStorage</a:t>
            </a:r>
          </a:p>
        </p:txBody>
      </p:sp>
      <p:sp>
        <p:nvSpPr>
          <p:cNvPr id="16" name="TextBox 15"/>
          <p:cNvSpPr txBox="1"/>
          <p:nvPr/>
        </p:nvSpPr>
        <p:spPr>
          <a:xfrm>
            <a:off x="7772400" y="3931920"/>
            <a:ext cx="320040" cy="320040"/>
          </a:xfrm>
          <a:prstGeom prst="rect">
            <a:avLst/>
          </a:prstGeom>
          <a:noFill/>
        </p:spPr>
        <p:txBody>
          <a:bodyPr wrap="none">
            <a:spAutoFit/>
          </a:bodyPr>
          <a:lstStyle/>
          <a:p>
            <a:pPr algn="ctr">
              <a:defRPr sz="1800"/>
            </a:pPr>
            <a:r>
              <a:t>✅</a:t>
            </a:r>
          </a:p>
        </p:txBody>
      </p:sp>
      <p:sp>
        <p:nvSpPr>
          <p:cNvPr id="17" name="TextBox 16"/>
          <p:cNvSpPr txBox="1"/>
          <p:nvPr/>
        </p:nvSpPr>
        <p:spPr>
          <a:xfrm>
            <a:off x="8183880" y="3950208"/>
            <a:ext cx="3520440" cy="320040"/>
          </a:xfrm>
          <a:prstGeom prst="rect">
            <a:avLst/>
          </a:prstGeom>
          <a:noFill/>
        </p:spPr>
        <p:txBody>
          <a:bodyPr wrap="none">
            <a:spAutoFit/>
          </a:bodyPr>
          <a:lstStyle/>
          <a:p>
            <a:pPr>
              <a:defRPr sz="1500">
                <a:solidFill>
                  <a:srgbClr val="44445A"/>
                </a:solidFill>
                <a:latin typeface="Calibri"/>
              </a:defRPr>
            </a:pPr>
            <a:r>
              <a:t>On page load: read from localStorage</a:t>
            </a:r>
          </a:p>
        </p:txBody>
      </p:sp>
      <p:sp>
        <p:nvSpPr>
          <p:cNvPr id="18" name="TextBox 17"/>
          <p:cNvSpPr txBox="1"/>
          <p:nvPr/>
        </p:nvSpPr>
        <p:spPr>
          <a:xfrm>
            <a:off x="7772400" y="4434840"/>
            <a:ext cx="320040" cy="320040"/>
          </a:xfrm>
          <a:prstGeom prst="rect">
            <a:avLst/>
          </a:prstGeom>
          <a:noFill/>
        </p:spPr>
        <p:txBody>
          <a:bodyPr wrap="none">
            <a:spAutoFit/>
          </a:bodyPr>
          <a:lstStyle/>
          <a:p>
            <a:pPr algn="ctr">
              <a:defRPr sz="1800"/>
            </a:pPr>
            <a:r>
              <a:t>✅</a:t>
            </a:r>
          </a:p>
        </p:txBody>
      </p:sp>
      <p:sp>
        <p:nvSpPr>
          <p:cNvPr id="19" name="TextBox 18"/>
          <p:cNvSpPr txBox="1"/>
          <p:nvPr/>
        </p:nvSpPr>
        <p:spPr>
          <a:xfrm>
            <a:off x="8183880" y="4453128"/>
            <a:ext cx="3520440" cy="320040"/>
          </a:xfrm>
          <a:prstGeom prst="rect">
            <a:avLst/>
          </a:prstGeom>
          <a:noFill/>
        </p:spPr>
        <p:txBody>
          <a:bodyPr wrap="none">
            <a:spAutoFit/>
          </a:bodyPr>
          <a:lstStyle/>
          <a:p>
            <a:pPr>
              <a:defRPr sz="1500">
                <a:solidFill>
                  <a:srgbClr val="44445A"/>
                </a:solidFill>
                <a:latin typeface="Calibri"/>
              </a:defRPr>
            </a:pPr>
            <a:r>
              <a:t>Constraint: preserve existing design</a:t>
            </a:r>
          </a:p>
        </p:txBody>
      </p:sp>
      <p:sp>
        <p:nvSpPr>
          <p:cNvPr id="20" name="TextBox 19"/>
          <p:cNvSpPr txBox="1"/>
          <p:nvPr/>
        </p:nvSpPr>
        <p:spPr>
          <a:xfrm>
            <a:off x="7772400" y="4937760"/>
            <a:ext cx="320040" cy="320040"/>
          </a:xfrm>
          <a:prstGeom prst="rect">
            <a:avLst/>
          </a:prstGeom>
          <a:noFill/>
        </p:spPr>
        <p:txBody>
          <a:bodyPr wrap="none">
            <a:spAutoFit/>
          </a:bodyPr>
          <a:lstStyle/>
          <a:p>
            <a:pPr algn="ctr">
              <a:defRPr sz="1800"/>
            </a:pPr>
            <a:r>
              <a:t>✅</a:t>
            </a:r>
          </a:p>
        </p:txBody>
      </p:sp>
      <p:sp>
        <p:nvSpPr>
          <p:cNvPr id="21" name="TextBox 20"/>
          <p:cNvSpPr txBox="1"/>
          <p:nvPr/>
        </p:nvSpPr>
        <p:spPr>
          <a:xfrm>
            <a:off x="8183880" y="4956048"/>
            <a:ext cx="3520440" cy="320040"/>
          </a:xfrm>
          <a:prstGeom prst="rect">
            <a:avLst/>
          </a:prstGeom>
          <a:noFill/>
        </p:spPr>
        <p:txBody>
          <a:bodyPr wrap="none">
            <a:spAutoFit/>
          </a:bodyPr>
          <a:lstStyle/>
          <a:p>
            <a:pPr>
              <a:defRPr sz="1500">
                <a:solidFill>
                  <a:srgbClr val="44445A"/>
                </a:solidFill>
                <a:latin typeface="Calibri"/>
              </a:defRPr>
            </a:pPr>
            <a:r>
              <a:t>Final step: git commit + push</a:t>
            </a:r>
          </a:p>
        </p:txBody>
      </p:sp>
      <p:sp>
        <p:nvSpPr>
          <p:cNvPr id="22" name="Rounded Rectangle 21"/>
          <p:cNvSpPr/>
          <p:nvPr/>
        </p:nvSpPr>
        <p:spPr>
          <a:xfrm>
            <a:off x="7772400" y="5577840"/>
            <a:ext cx="3931920" cy="502920"/>
          </a:xfrm>
          <a:prstGeom prst="round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Result: Feature completed in one prompt!</a:t>
            </a:r>
          </a:p>
        </p:txBody>
      </p:sp>
      <p:sp>
        <p:nvSpPr>
          <p:cNvPr id="23" name="TextBox 22"/>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24" name="TextBox 23"/>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Task Breakdown</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How the Cloud Agent thinks and plans before writing code</a:t>
            </a:r>
          </a:p>
        </p:txBody>
      </p:sp>
      <p:sp>
        <p:nvSpPr>
          <p:cNvPr id="5" name="Rounded Rectangle 4"/>
          <p:cNvSpPr/>
          <p:nvPr/>
        </p:nvSpPr>
        <p:spPr>
          <a:xfrm>
            <a:off x="274320" y="2011680"/>
            <a:ext cx="1508760" cy="301752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08760"/>
            <a:ext cx="411480" cy="411480"/>
          </a:xfrm>
          <a:prstGeom prst="ellipse">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1</a:t>
            </a:r>
          </a:p>
        </p:txBody>
      </p:sp>
      <p:sp>
        <p:nvSpPr>
          <p:cNvPr id="7" name="TextBox 6"/>
          <p:cNvSpPr txBox="1"/>
          <p:nvPr/>
        </p:nvSpPr>
        <p:spPr>
          <a:xfrm>
            <a:off x="347472" y="2148840"/>
            <a:ext cx="1371600" cy="365760"/>
          </a:xfrm>
          <a:prstGeom prst="rect">
            <a:avLst/>
          </a:prstGeom>
          <a:noFill/>
        </p:spPr>
        <p:txBody>
          <a:bodyPr wrap="none">
            <a:spAutoFit/>
          </a:bodyPr>
          <a:lstStyle/>
          <a:p>
            <a:pPr algn="ctr">
              <a:defRPr sz="1300" b="1">
                <a:solidFill>
                  <a:srgbClr val="1A1A2E"/>
                </a:solidFill>
                <a:latin typeface="Calibri"/>
              </a:defRPr>
            </a:pPr>
            <a:r>
              <a:t>Create Branch</a:t>
            </a:r>
          </a:p>
        </p:txBody>
      </p:sp>
      <p:sp>
        <p:nvSpPr>
          <p:cNvPr id="8" name="TextBox 7"/>
          <p:cNvSpPr txBox="1"/>
          <p:nvPr/>
        </p:nvSpPr>
        <p:spPr>
          <a:xfrm>
            <a:off x="347472" y="2560320"/>
            <a:ext cx="1371600" cy="1097280"/>
          </a:xfrm>
          <a:prstGeom prst="rect">
            <a:avLst/>
          </a:prstGeom>
          <a:noFill/>
        </p:spPr>
        <p:txBody>
          <a:bodyPr wrap="square">
            <a:spAutoFit/>
          </a:bodyPr>
          <a:lstStyle/>
          <a:p>
            <a:pPr algn="ctr">
              <a:defRPr sz="1100">
                <a:solidFill>
                  <a:srgbClr val="666672"/>
                </a:solidFill>
                <a:latin typeface="Consolas"/>
              </a:defRPr>
            </a:pPr>
            <a:r>
              <a:t>git checkout -b</a:t>
            </a:r>
            <a:br/>
            <a:r>
              <a:t>feature/remember-me</a:t>
            </a:r>
          </a:p>
        </p:txBody>
      </p:sp>
      <p:sp>
        <p:nvSpPr>
          <p:cNvPr id="9" name="TextBox 8"/>
          <p:cNvSpPr txBox="1"/>
          <p:nvPr/>
        </p:nvSpPr>
        <p:spPr>
          <a:xfrm>
            <a:off x="347472" y="3931920"/>
            <a:ext cx="1371600" cy="731520"/>
          </a:xfrm>
          <a:prstGeom prst="rect">
            <a:avLst/>
          </a:prstGeom>
          <a:noFill/>
        </p:spPr>
        <p:txBody>
          <a:bodyPr wrap="square">
            <a:spAutoFit/>
          </a:bodyPr>
          <a:lstStyle/>
          <a:p>
            <a:pPr algn="ctr">
              <a:defRPr sz="1000">
                <a:solidFill>
                  <a:srgbClr val="9999A5"/>
                </a:solidFill>
                <a:latin typeface="Calibri"/>
              </a:defRPr>
            </a:pPr>
            <a:r>
              <a:t>Sets up isolated workspace</a:t>
            </a:r>
          </a:p>
        </p:txBody>
      </p:sp>
      <p:sp>
        <p:nvSpPr>
          <p:cNvPr id="10" name="Right Arrow 9"/>
          <p:cNvSpPr/>
          <p:nvPr/>
        </p:nvSpPr>
        <p:spPr>
          <a:xfrm>
            <a:off x="1810512" y="329184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938528" y="2011680"/>
            <a:ext cx="1508760" cy="301752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468880" y="1508760"/>
            <a:ext cx="411480" cy="411480"/>
          </a:xfrm>
          <a:prstGeom prst="ellipse">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2</a:t>
            </a:r>
          </a:p>
        </p:txBody>
      </p:sp>
      <p:sp>
        <p:nvSpPr>
          <p:cNvPr id="13" name="TextBox 12"/>
          <p:cNvSpPr txBox="1"/>
          <p:nvPr/>
        </p:nvSpPr>
        <p:spPr>
          <a:xfrm>
            <a:off x="2011680" y="2148840"/>
            <a:ext cx="1371600" cy="365760"/>
          </a:xfrm>
          <a:prstGeom prst="rect">
            <a:avLst/>
          </a:prstGeom>
          <a:noFill/>
        </p:spPr>
        <p:txBody>
          <a:bodyPr wrap="none">
            <a:spAutoFit/>
          </a:bodyPr>
          <a:lstStyle/>
          <a:p>
            <a:pPr algn="ctr">
              <a:defRPr sz="1300" b="1">
                <a:solidFill>
                  <a:srgbClr val="1A1A2E"/>
                </a:solidFill>
                <a:latin typeface="Calibri"/>
              </a:defRPr>
            </a:pPr>
            <a:r>
              <a:t>Read Existing Code</a:t>
            </a:r>
          </a:p>
        </p:txBody>
      </p:sp>
      <p:sp>
        <p:nvSpPr>
          <p:cNvPr id="14" name="TextBox 13"/>
          <p:cNvSpPr txBox="1"/>
          <p:nvPr/>
        </p:nvSpPr>
        <p:spPr>
          <a:xfrm>
            <a:off x="2011680" y="2560320"/>
            <a:ext cx="1371600" cy="1097280"/>
          </a:xfrm>
          <a:prstGeom prst="rect">
            <a:avLst/>
          </a:prstGeom>
          <a:noFill/>
        </p:spPr>
        <p:txBody>
          <a:bodyPr wrap="square">
            <a:spAutoFit/>
          </a:bodyPr>
          <a:lstStyle/>
          <a:p>
            <a:pPr algn="ctr">
              <a:defRPr sz="1100">
                <a:solidFill>
                  <a:srgbClr val="666672"/>
                </a:solidFill>
                <a:latin typeface="Consolas"/>
              </a:defRPr>
            </a:pPr>
            <a:r>
              <a:t>Reads index.html,</a:t>
            </a:r>
            <a:br/>
            <a:r>
              <a:t>style.css, main.js</a:t>
            </a:r>
          </a:p>
        </p:txBody>
      </p:sp>
      <p:sp>
        <p:nvSpPr>
          <p:cNvPr id="15" name="TextBox 14"/>
          <p:cNvSpPr txBox="1"/>
          <p:nvPr/>
        </p:nvSpPr>
        <p:spPr>
          <a:xfrm>
            <a:off x="2011680" y="3931920"/>
            <a:ext cx="1371600" cy="731520"/>
          </a:xfrm>
          <a:prstGeom prst="rect">
            <a:avLst/>
          </a:prstGeom>
          <a:noFill/>
        </p:spPr>
        <p:txBody>
          <a:bodyPr wrap="square">
            <a:spAutoFit/>
          </a:bodyPr>
          <a:lstStyle/>
          <a:p>
            <a:pPr algn="ctr">
              <a:defRPr sz="1000">
                <a:solidFill>
                  <a:srgbClr val="9999A5"/>
                </a:solidFill>
                <a:latin typeface="Calibri"/>
              </a:defRPr>
            </a:pPr>
            <a:r>
              <a:t>Understands current structure</a:t>
            </a:r>
          </a:p>
        </p:txBody>
      </p:sp>
      <p:sp>
        <p:nvSpPr>
          <p:cNvPr id="16" name="Right Arrow 15"/>
          <p:cNvSpPr/>
          <p:nvPr/>
        </p:nvSpPr>
        <p:spPr>
          <a:xfrm>
            <a:off x="3474720" y="329184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02736" y="2011680"/>
            <a:ext cx="1508760" cy="301752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133088" y="1508760"/>
            <a:ext cx="411480" cy="411480"/>
          </a:xfrm>
          <a:prstGeom prst="ellipse">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3</a:t>
            </a:r>
          </a:p>
        </p:txBody>
      </p:sp>
      <p:sp>
        <p:nvSpPr>
          <p:cNvPr id="19" name="TextBox 18"/>
          <p:cNvSpPr txBox="1"/>
          <p:nvPr/>
        </p:nvSpPr>
        <p:spPr>
          <a:xfrm>
            <a:off x="3675888" y="2148840"/>
            <a:ext cx="1371600" cy="365760"/>
          </a:xfrm>
          <a:prstGeom prst="rect">
            <a:avLst/>
          </a:prstGeom>
          <a:noFill/>
        </p:spPr>
        <p:txBody>
          <a:bodyPr wrap="none">
            <a:spAutoFit/>
          </a:bodyPr>
          <a:lstStyle/>
          <a:p>
            <a:pPr algn="ctr">
              <a:defRPr sz="1300" b="1">
                <a:solidFill>
                  <a:srgbClr val="1A1A2E"/>
                </a:solidFill>
                <a:latin typeface="Calibri"/>
              </a:defRPr>
            </a:pPr>
            <a:r>
              <a:t>Update HTML</a:t>
            </a:r>
          </a:p>
        </p:txBody>
      </p:sp>
      <p:sp>
        <p:nvSpPr>
          <p:cNvPr id="20" name="TextBox 19"/>
          <p:cNvSpPr txBox="1"/>
          <p:nvPr/>
        </p:nvSpPr>
        <p:spPr>
          <a:xfrm>
            <a:off x="3675888" y="2560320"/>
            <a:ext cx="1371600" cy="1097280"/>
          </a:xfrm>
          <a:prstGeom prst="rect">
            <a:avLst/>
          </a:prstGeom>
          <a:noFill/>
        </p:spPr>
        <p:txBody>
          <a:bodyPr wrap="square">
            <a:spAutoFit/>
          </a:bodyPr>
          <a:lstStyle/>
          <a:p>
            <a:pPr algn="ctr">
              <a:defRPr sz="1100">
                <a:solidFill>
                  <a:srgbClr val="666672"/>
                </a:solidFill>
                <a:latin typeface="Consolas"/>
              </a:defRPr>
            </a:pPr>
            <a:r>
              <a:t>Adds checkbox markup</a:t>
            </a:r>
            <a:br/>
            <a:r>
              <a:t>below password field</a:t>
            </a:r>
          </a:p>
        </p:txBody>
      </p:sp>
      <p:sp>
        <p:nvSpPr>
          <p:cNvPr id="21" name="TextBox 20"/>
          <p:cNvSpPr txBox="1"/>
          <p:nvPr/>
        </p:nvSpPr>
        <p:spPr>
          <a:xfrm>
            <a:off x="3675888" y="3931920"/>
            <a:ext cx="1371600" cy="731520"/>
          </a:xfrm>
          <a:prstGeom prst="rect">
            <a:avLst/>
          </a:prstGeom>
          <a:noFill/>
        </p:spPr>
        <p:txBody>
          <a:bodyPr wrap="square">
            <a:spAutoFit/>
          </a:bodyPr>
          <a:lstStyle/>
          <a:p>
            <a:pPr algn="ctr">
              <a:defRPr sz="1000">
                <a:solidFill>
                  <a:srgbClr val="9999A5"/>
                </a:solidFill>
                <a:latin typeface="Calibri"/>
              </a:defRPr>
            </a:pPr>
            <a:r>
              <a:t>New UI element in form</a:t>
            </a:r>
          </a:p>
        </p:txBody>
      </p:sp>
      <p:sp>
        <p:nvSpPr>
          <p:cNvPr id="22" name="Right Arrow 21"/>
          <p:cNvSpPr/>
          <p:nvPr/>
        </p:nvSpPr>
        <p:spPr>
          <a:xfrm>
            <a:off x="5138928" y="329184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66944" y="2011680"/>
            <a:ext cx="1508760" cy="301752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97296" y="1508760"/>
            <a:ext cx="411480" cy="411480"/>
          </a:xfrm>
          <a:prstGeom prst="ellipse">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4</a:t>
            </a:r>
          </a:p>
        </p:txBody>
      </p:sp>
      <p:sp>
        <p:nvSpPr>
          <p:cNvPr id="25" name="TextBox 24"/>
          <p:cNvSpPr txBox="1"/>
          <p:nvPr/>
        </p:nvSpPr>
        <p:spPr>
          <a:xfrm>
            <a:off x="5340096" y="2148840"/>
            <a:ext cx="1371600" cy="365760"/>
          </a:xfrm>
          <a:prstGeom prst="rect">
            <a:avLst/>
          </a:prstGeom>
          <a:noFill/>
        </p:spPr>
        <p:txBody>
          <a:bodyPr wrap="none">
            <a:spAutoFit/>
          </a:bodyPr>
          <a:lstStyle/>
          <a:p>
            <a:pPr algn="ctr">
              <a:defRPr sz="1300" b="1">
                <a:solidFill>
                  <a:srgbClr val="1A1A2E"/>
                </a:solidFill>
                <a:latin typeface="Calibri"/>
              </a:defRPr>
            </a:pPr>
            <a:r>
              <a:t>Update CSS</a:t>
            </a:r>
          </a:p>
        </p:txBody>
      </p:sp>
      <p:sp>
        <p:nvSpPr>
          <p:cNvPr id="26" name="TextBox 25"/>
          <p:cNvSpPr txBox="1"/>
          <p:nvPr/>
        </p:nvSpPr>
        <p:spPr>
          <a:xfrm>
            <a:off x="5340096" y="2560320"/>
            <a:ext cx="1371600" cy="1097280"/>
          </a:xfrm>
          <a:prstGeom prst="rect">
            <a:avLst/>
          </a:prstGeom>
          <a:noFill/>
        </p:spPr>
        <p:txBody>
          <a:bodyPr wrap="square">
            <a:spAutoFit/>
          </a:bodyPr>
          <a:lstStyle/>
          <a:p>
            <a:pPr algn="ctr">
              <a:defRPr sz="1100">
                <a:solidFill>
                  <a:srgbClr val="666672"/>
                </a:solidFill>
                <a:latin typeface="Consolas"/>
              </a:defRPr>
            </a:pPr>
            <a:r>
              <a:t>Styles .remember-me</a:t>
            </a:r>
            <a:br/>
            <a:r>
              <a:t>with flexbox layout</a:t>
            </a:r>
          </a:p>
        </p:txBody>
      </p:sp>
      <p:sp>
        <p:nvSpPr>
          <p:cNvPr id="27" name="TextBox 26"/>
          <p:cNvSpPr txBox="1"/>
          <p:nvPr/>
        </p:nvSpPr>
        <p:spPr>
          <a:xfrm>
            <a:off x="5340096" y="3931920"/>
            <a:ext cx="1371600" cy="731520"/>
          </a:xfrm>
          <a:prstGeom prst="rect">
            <a:avLst/>
          </a:prstGeom>
          <a:noFill/>
        </p:spPr>
        <p:txBody>
          <a:bodyPr wrap="square">
            <a:spAutoFit/>
          </a:bodyPr>
          <a:lstStyle/>
          <a:p>
            <a:pPr algn="ctr">
              <a:defRPr sz="1000">
                <a:solidFill>
                  <a:srgbClr val="9999A5"/>
                </a:solidFill>
                <a:latin typeface="Calibri"/>
              </a:defRPr>
            </a:pPr>
            <a:r>
              <a:t>Matches green theme</a:t>
            </a:r>
          </a:p>
        </p:txBody>
      </p:sp>
      <p:sp>
        <p:nvSpPr>
          <p:cNvPr id="28" name="Right Arrow 27"/>
          <p:cNvSpPr/>
          <p:nvPr/>
        </p:nvSpPr>
        <p:spPr>
          <a:xfrm>
            <a:off x="6803136" y="329184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931152" y="2011680"/>
            <a:ext cx="1508760" cy="301752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61504" y="1508760"/>
            <a:ext cx="411480" cy="411480"/>
          </a:xfrm>
          <a:prstGeom prst="ellipse">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5</a:t>
            </a:r>
          </a:p>
        </p:txBody>
      </p:sp>
      <p:sp>
        <p:nvSpPr>
          <p:cNvPr id="31" name="TextBox 30"/>
          <p:cNvSpPr txBox="1"/>
          <p:nvPr/>
        </p:nvSpPr>
        <p:spPr>
          <a:xfrm>
            <a:off x="7004304" y="2148840"/>
            <a:ext cx="1371600" cy="365760"/>
          </a:xfrm>
          <a:prstGeom prst="rect">
            <a:avLst/>
          </a:prstGeom>
          <a:noFill/>
        </p:spPr>
        <p:txBody>
          <a:bodyPr wrap="none">
            <a:spAutoFit/>
          </a:bodyPr>
          <a:lstStyle/>
          <a:p>
            <a:pPr algn="ctr">
              <a:defRPr sz="1300" b="1">
                <a:solidFill>
                  <a:srgbClr val="1A1A2E"/>
                </a:solidFill>
                <a:latin typeface="Calibri"/>
              </a:defRPr>
            </a:pPr>
            <a:r>
              <a:t>Update JavaScript</a:t>
            </a:r>
          </a:p>
        </p:txBody>
      </p:sp>
      <p:sp>
        <p:nvSpPr>
          <p:cNvPr id="32" name="TextBox 31"/>
          <p:cNvSpPr txBox="1"/>
          <p:nvPr/>
        </p:nvSpPr>
        <p:spPr>
          <a:xfrm>
            <a:off x="7004304" y="2560320"/>
            <a:ext cx="1371600" cy="1097280"/>
          </a:xfrm>
          <a:prstGeom prst="rect">
            <a:avLst/>
          </a:prstGeom>
          <a:noFill/>
        </p:spPr>
        <p:txBody>
          <a:bodyPr wrap="square">
            <a:spAutoFit/>
          </a:bodyPr>
          <a:lstStyle/>
          <a:p>
            <a:pPr algn="ctr">
              <a:defRPr sz="1100">
                <a:solidFill>
                  <a:srgbClr val="666672"/>
                </a:solidFill>
                <a:latin typeface="Consolas"/>
              </a:defRPr>
            </a:pPr>
            <a:r>
              <a:t>Adds localStorage</a:t>
            </a:r>
            <a:br/>
            <a:r>
              <a:t>read/write logic</a:t>
            </a:r>
          </a:p>
        </p:txBody>
      </p:sp>
      <p:sp>
        <p:nvSpPr>
          <p:cNvPr id="33" name="TextBox 32"/>
          <p:cNvSpPr txBox="1"/>
          <p:nvPr/>
        </p:nvSpPr>
        <p:spPr>
          <a:xfrm>
            <a:off x="7004304" y="3931920"/>
            <a:ext cx="1371600" cy="731520"/>
          </a:xfrm>
          <a:prstGeom prst="rect">
            <a:avLst/>
          </a:prstGeom>
          <a:noFill/>
        </p:spPr>
        <p:txBody>
          <a:bodyPr wrap="square">
            <a:spAutoFit/>
          </a:bodyPr>
          <a:lstStyle/>
          <a:p>
            <a:pPr algn="ctr">
              <a:defRPr sz="1000">
                <a:solidFill>
                  <a:srgbClr val="9999A5"/>
                </a:solidFill>
                <a:latin typeface="Calibri"/>
              </a:defRPr>
            </a:pPr>
            <a:r>
              <a:t>Persistence across reloads</a:t>
            </a:r>
          </a:p>
        </p:txBody>
      </p:sp>
      <p:sp>
        <p:nvSpPr>
          <p:cNvPr id="34" name="Right Arrow 33"/>
          <p:cNvSpPr/>
          <p:nvPr/>
        </p:nvSpPr>
        <p:spPr>
          <a:xfrm>
            <a:off x="8467344" y="329184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595360" y="2011680"/>
            <a:ext cx="1508760" cy="301752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125712" y="1508760"/>
            <a:ext cx="411480" cy="411480"/>
          </a:xfrm>
          <a:prstGeom prst="ellipse">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6</a:t>
            </a:r>
          </a:p>
        </p:txBody>
      </p:sp>
      <p:sp>
        <p:nvSpPr>
          <p:cNvPr id="37" name="TextBox 36"/>
          <p:cNvSpPr txBox="1"/>
          <p:nvPr/>
        </p:nvSpPr>
        <p:spPr>
          <a:xfrm>
            <a:off x="8668512" y="2148840"/>
            <a:ext cx="1371600" cy="365760"/>
          </a:xfrm>
          <a:prstGeom prst="rect">
            <a:avLst/>
          </a:prstGeom>
          <a:noFill/>
        </p:spPr>
        <p:txBody>
          <a:bodyPr wrap="none">
            <a:spAutoFit/>
          </a:bodyPr>
          <a:lstStyle/>
          <a:p>
            <a:pPr algn="ctr">
              <a:defRPr sz="1300" b="1">
                <a:solidFill>
                  <a:srgbClr val="1A1A2E"/>
                </a:solidFill>
                <a:latin typeface="Calibri"/>
              </a:defRPr>
            </a:pPr>
            <a:r>
              <a:t>Test in Browser</a:t>
            </a:r>
          </a:p>
        </p:txBody>
      </p:sp>
      <p:sp>
        <p:nvSpPr>
          <p:cNvPr id="38" name="TextBox 37"/>
          <p:cNvSpPr txBox="1"/>
          <p:nvPr/>
        </p:nvSpPr>
        <p:spPr>
          <a:xfrm>
            <a:off x="8668512" y="2560320"/>
            <a:ext cx="1371600" cy="1097280"/>
          </a:xfrm>
          <a:prstGeom prst="rect">
            <a:avLst/>
          </a:prstGeom>
          <a:noFill/>
        </p:spPr>
        <p:txBody>
          <a:bodyPr wrap="square">
            <a:spAutoFit/>
          </a:bodyPr>
          <a:lstStyle/>
          <a:p>
            <a:pPr algn="ctr">
              <a:defRPr sz="1100">
                <a:solidFill>
                  <a:srgbClr val="666672"/>
                </a:solidFill>
                <a:latin typeface="Consolas"/>
              </a:defRPr>
            </a:pPr>
            <a:r>
              <a:t>Opens Chrome, fills</a:t>
            </a:r>
            <a:br/>
            <a:r>
              <a:t>form, verifies flow</a:t>
            </a:r>
          </a:p>
        </p:txBody>
      </p:sp>
      <p:sp>
        <p:nvSpPr>
          <p:cNvPr id="39" name="TextBox 38"/>
          <p:cNvSpPr txBox="1"/>
          <p:nvPr/>
        </p:nvSpPr>
        <p:spPr>
          <a:xfrm>
            <a:off x="8668512" y="3931920"/>
            <a:ext cx="1371600" cy="731520"/>
          </a:xfrm>
          <a:prstGeom prst="rect">
            <a:avLst/>
          </a:prstGeom>
          <a:noFill/>
        </p:spPr>
        <p:txBody>
          <a:bodyPr wrap="square">
            <a:spAutoFit/>
          </a:bodyPr>
          <a:lstStyle/>
          <a:p>
            <a:pPr algn="ctr">
              <a:defRPr sz="1000">
                <a:solidFill>
                  <a:srgbClr val="9999A5"/>
                </a:solidFill>
                <a:latin typeface="Calibri"/>
              </a:defRPr>
            </a:pPr>
            <a:r>
              <a:t>Visual confirmation</a:t>
            </a:r>
          </a:p>
        </p:txBody>
      </p:sp>
      <p:sp>
        <p:nvSpPr>
          <p:cNvPr id="40" name="Right Arrow 39"/>
          <p:cNvSpPr/>
          <p:nvPr/>
        </p:nvSpPr>
        <p:spPr>
          <a:xfrm>
            <a:off x="10131552" y="329184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0259568" y="2011680"/>
            <a:ext cx="1508760" cy="301752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789920" y="1508760"/>
            <a:ext cx="411480" cy="411480"/>
          </a:xfrm>
          <a:prstGeom prst="ellipse">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Calibri"/>
              </a:defRPr>
            </a:pPr>
            <a:r>
              <a:t>7</a:t>
            </a:r>
          </a:p>
        </p:txBody>
      </p:sp>
      <p:sp>
        <p:nvSpPr>
          <p:cNvPr id="43" name="TextBox 42"/>
          <p:cNvSpPr txBox="1"/>
          <p:nvPr/>
        </p:nvSpPr>
        <p:spPr>
          <a:xfrm>
            <a:off x="10332720" y="2148840"/>
            <a:ext cx="1371600" cy="365760"/>
          </a:xfrm>
          <a:prstGeom prst="rect">
            <a:avLst/>
          </a:prstGeom>
          <a:noFill/>
        </p:spPr>
        <p:txBody>
          <a:bodyPr wrap="none">
            <a:spAutoFit/>
          </a:bodyPr>
          <a:lstStyle/>
          <a:p>
            <a:pPr algn="ctr">
              <a:defRPr sz="1300" b="1">
                <a:solidFill>
                  <a:srgbClr val="1A1A2E"/>
                </a:solidFill>
                <a:latin typeface="Calibri"/>
              </a:defRPr>
            </a:pPr>
            <a:r>
              <a:t>Commit &amp; Push</a:t>
            </a:r>
          </a:p>
        </p:txBody>
      </p:sp>
      <p:sp>
        <p:nvSpPr>
          <p:cNvPr id="44" name="TextBox 43"/>
          <p:cNvSpPr txBox="1"/>
          <p:nvPr/>
        </p:nvSpPr>
        <p:spPr>
          <a:xfrm>
            <a:off x="10332720" y="2560320"/>
            <a:ext cx="1371600" cy="1097280"/>
          </a:xfrm>
          <a:prstGeom prst="rect">
            <a:avLst/>
          </a:prstGeom>
          <a:noFill/>
        </p:spPr>
        <p:txBody>
          <a:bodyPr wrap="square">
            <a:spAutoFit/>
          </a:bodyPr>
          <a:lstStyle/>
          <a:p>
            <a:pPr algn="ctr">
              <a:defRPr sz="1100">
                <a:solidFill>
                  <a:srgbClr val="666672"/>
                </a:solidFill>
                <a:latin typeface="Consolas"/>
              </a:defRPr>
            </a:pPr>
            <a:r>
              <a:t>git add, commit</a:t>
            </a:r>
            <a:br/>
            <a:r>
              <a:t>with feat: prefix, push</a:t>
            </a:r>
          </a:p>
        </p:txBody>
      </p:sp>
      <p:sp>
        <p:nvSpPr>
          <p:cNvPr id="45" name="TextBox 44"/>
          <p:cNvSpPr txBox="1"/>
          <p:nvPr/>
        </p:nvSpPr>
        <p:spPr>
          <a:xfrm>
            <a:off x="10332720" y="3931920"/>
            <a:ext cx="1371600" cy="731520"/>
          </a:xfrm>
          <a:prstGeom prst="rect">
            <a:avLst/>
          </a:prstGeom>
          <a:noFill/>
        </p:spPr>
        <p:txBody>
          <a:bodyPr wrap="square">
            <a:spAutoFit/>
          </a:bodyPr>
          <a:lstStyle/>
          <a:p>
            <a:pPr algn="ctr">
              <a:defRPr sz="1000">
                <a:solidFill>
                  <a:srgbClr val="9999A5"/>
                </a:solidFill>
                <a:latin typeface="Calibri"/>
              </a:defRPr>
            </a:pPr>
            <a:r>
              <a:t>Ready for code review</a:t>
            </a:r>
          </a:p>
        </p:txBody>
      </p:sp>
      <p:sp>
        <p:nvSpPr>
          <p:cNvPr id="46" name="TextBox 45"/>
          <p:cNvSpPr txBox="1"/>
          <p:nvPr/>
        </p:nvSpPr>
        <p:spPr>
          <a:xfrm>
            <a:off x="914400" y="5577840"/>
            <a:ext cx="10058400" cy="457200"/>
          </a:xfrm>
          <a:prstGeom prst="rect">
            <a:avLst/>
          </a:prstGeom>
          <a:noFill/>
        </p:spPr>
        <p:txBody>
          <a:bodyPr wrap="none">
            <a:spAutoFit/>
          </a:bodyPr>
          <a:lstStyle/>
          <a:p>
            <a:pPr algn="ctr">
              <a:defRPr sz="1300">
                <a:solidFill>
                  <a:srgbClr val="9999A5"/>
                </a:solidFill>
                <a:latin typeface="Calibri"/>
              </a:defRPr>
            </a:pPr>
            <a:r>
              <a:t>The agent completed all 7 steps automatically from a single prompt — no human intervention needed.</a:t>
            </a:r>
          </a:p>
        </p:txBody>
      </p:sp>
      <p:sp>
        <p:nvSpPr>
          <p:cNvPr id="47" name="TextBox 46"/>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48" name="TextBox 47"/>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Feature Flow Explanation</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How the Remember Me feature works from the user's perspective</a:t>
            </a:r>
          </a:p>
        </p:txBody>
      </p:sp>
      <p:sp>
        <p:nvSpPr>
          <p:cNvPr id="5" name="Rounded Rectangle 4"/>
          <p:cNvSpPr/>
          <p:nvPr/>
        </p:nvSpPr>
        <p:spPr>
          <a:xfrm>
            <a:off x="457200" y="1828800"/>
            <a:ext cx="1783080" cy="292608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65960"/>
            <a:ext cx="1783080" cy="548640"/>
          </a:xfrm>
          <a:prstGeom prst="rect">
            <a:avLst/>
          </a:prstGeom>
          <a:noFill/>
        </p:spPr>
        <p:txBody>
          <a:bodyPr wrap="none">
            <a:spAutoFit/>
          </a:bodyPr>
          <a:lstStyle/>
          <a:p>
            <a:pPr algn="ctr">
              <a:defRPr sz="3000"/>
            </a:pPr>
            <a:r>
              <a:t>👤</a:t>
            </a:r>
          </a:p>
        </p:txBody>
      </p:sp>
      <p:sp>
        <p:nvSpPr>
          <p:cNvPr id="7" name="TextBox 6"/>
          <p:cNvSpPr txBox="1"/>
          <p:nvPr/>
        </p:nvSpPr>
        <p:spPr>
          <a:xfrm>
            <a:off x="548640" y="2560320"/>
            <a:ext cx="1600200" cy="640080"/>
          </a:xfrm>
          <a:prstGeom prst="rect">
            <a:avLst/>
          </a:prstGeom>
          <a:noFill/>
        </p:spPr>
        <p:txBody>
          <a:bodyPr wrap="square">
            <a:spAutoFit/>
          </a:bodyPr>
          <a:lstStyle/>
          <a:p>
            <a:pPr algn="ctr">
              <a:defRPr sz="1400" b="1">
                <a:solidFill>
                  <a:srgbClr val="1A1A2E"/>
                </a:solidFill>
                <a:latin typeface="Calibri"/>
              </a:defRPr>
            </a:pPr>
            <a:r>
              <a:t>User Types</a:t>
            </a:r>
            <a:br/>
            <a:r>
              <a:t>Username</a:t>
            </a:r>
          </a:p>
        </p:txBody>
      </p:sp>
      <p:sp>
        <p:nvSpPr>
          <p:cNvPr id="8" name="TextBox 7"/>
          <p:cNvSpPr txBox="1"/>
          <p:nvPr/>
        </p:nvSpPr>
        <p:spPr>
          <a:xfrm>
            <a:off x="548640" y="3291840"/>
            <a:ext cx="1600200" cy="1097280"/>
          </a:xfrm>
          <a:prstGeom prst="rect">
            <a:avLst/>
          </a:prstGeom>
          <a:noFill/>
        </p:spPr>
        <p:txBody>
          <a:bodyPr wrap="square">
            <a:spAutoFit/>
          </a:bodyPr>
          <a:lstStyle/>
          <a:p>
            <a:pPr algn="ctr">
              <a:defRPr sz="1100">
                <a:solidFill>
                  <a:srgbClr val="666672"/>
                </a:solidFill>
                <a:latin typeface="Calibri"/>
              </a:defRPr>
            </a:pPr>
            <a:r>
              <a:t>Enters their username</a:t>
            </a:r>
            <a:br/>
            <a:r>
              <a:t>in the text field</a:t>
            </a:r>
          </a:p>
        </p:txBody>
      </p:sp>
      <p:sp>
        <p:nvSpPr>
          <p:cNvPr id="9" name="Right Arrow 8"/>
          <p:cNvSpPr/>
          <p:nvPr/>
        </p:nvSpPr>
        <p:spPr>
          <a:xfrm>
            <a:off x="2267712" y="301752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395728" y="1828800"/>
            <a:ext cx="1783080" cy="292608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8" y="1965960"/>
            <a:ext cx="1783080" cy="548640"/>
          </a:xfrm>
          <a:prstGeom prst="rect">
            <a:avLst/>
          </a:prstGeom>
          <a:noFill/>
        </p:spPr>
        <p:txBody>
          <a:bodyPr wrap="none">
            <a:spAutoFit/>
          </a:bodyPr>
          <a:lstStyle/>
          <a:p>
            <a:pPr algn="ctr">
              <a:defRPr sz="3000"/>
            </a:pPr>
            <a:r>
              <a:t>☑️</a:t>
            </a:r>
          </a:p>
        </p:txBody>
      </p:sp>
      <p:sp>
        <p:nvSpPr>
          <p:cNvPr id="12" name="TextBox 11"/>
          <p:cNvSpPr txBox="1"/>
          <p:nvPr/>
        </p:nvSpPr>
        <p:spPr>
          <a:xfrm>
            <a:off x="2487168" y="2560320"/>
            <a:ext cx="1600200" cy="640080"/>
          </a:xfrm>
          <a:prstGeom prst="rect">
            <a:avLst/>
          </a:prstGeom>
          <a:noFill/>
        </p:spPr>
        <p:txBody>
          <a:bodyPr wrap="square">
            <a:spAutoFit/>
          </a:bodyPr>
          <a:lstStyle/>
          <a:p>
            <a:pPr algn="ctr">
              <a:defRPr sz="1400" b="1">
                <a:solidFill>
                  <a:srgbClr val="1A1A2E"/>
                </a:solidFill>
                <a:latin typeface="Calibri"/>
              </a:defRPr>
            </a:pPr>
            <a:r>
              <a:t>Checks</a:t>
            </a:r>
            <a:br/>
            <a:r>
              <a:t>Remember Me</a:t>
            </a:r>
          </a:p>
        </p:txBody>
      </p:sp>
      <p:sp>
        <p:nvSpPr>
          <p:cNvPr id="13" name="TextBox 12"/>
          <p:cNvSpPr txBox="1"/>
          <p:nvPr/>
        </p:nvSpPr>
        <p:spPr>
          <a:xfrm>
            <a:off x="2487168" y="3291840"/>
            <a:ext cx="1600200" cy="1097280"/>
          </a:xfrm>
          <a:prstGeom prst="rect">
            <a:avLst/>
          </a:prstGeom>
          <a:noFill/>
        </p:spPr>
        <p:txBody>
          <a:bodyPr wrap="square">
            <a:spAutoFit/>
          </a:bodyPr>
          <a:lstStyle/>
          <a:p>
            <a:pPr algn="ctr">
              <a:defRPr sz="1100">
                <a:solidFill>
                  <a:srgbClr val="666672"/>
                </a:solidFill>
                <a:latin typeface="Calibri"/>
              </a:defRPr>
            </a:pPr>
            <a:r>
              <a:t>Ticks the checkbox to</a:t>
            </a:r>
            <a:br/>
            <a:r>
              <a:t>opt into persistence</a:t>
            </a:r>
          </a:p>
        </p:txBody>
      </p:sp>
      <p:sp>
        <p:nvSpPr>
          <p:cNvPr id="14" name="Right Arrow 13"/>
          <p:cNvSpPr/>
          <p:nvPr/>
        </p:nvSpPr>
        <p:spPr>
          <a:xfrm>
            <a:off x="4206240" y="301752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34256" y="1828800"/>
            <a:ext cx="1783080" cy="292608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34256" y="1965960"/>
            <a:ext cx="1783080" cy="548640"/>
          </a:xfrm>
          <a:prstGeom prst="rect">
            <a:avLst/>
          </a:prstGeom>
          <a:noFill/>
        </p:spPr>
        <p:txBody>
          <a:bodyPr wrap="none">
            <a:spAutoFit/>
          </a:bodyPr>
          <a:lstStyle/>
          <a:p>
            <a:pPr algn="ctr">
              <a:defRPr sz="3000"/>
            </a:pPr>
            <a:r>
              <a:t>📤</a:t>
            </a:r>
          </a:p>
        </p:txBody>
      </p:sp>
      <p:sp>
        <p:nvSpPr>
          <p:cNvPr id="17" name="TextBox 16"/>
          <p:cNvSpPr txBox="1"/>
          <p:nvPr/>
        </p:nvSpPr>
        <p:spPr>
          <a:xfrm>
            <a:off x="4425696" y="2560320"/>
            <a:ext cx="1600200" cy="640080"/>
          </a:xfrm>
          <a:prstGeom prst="rect">
            <a:avLst/>
          </a:prstGeom>
          <a:noFill/>
        </p:spPr>
        <p:txBody>
          <a:bodyPr wrap="square">
            <a:spAutoFit/>
          </a:bodyPr>
          <a:lstStyle/>
          <a:p>
            <a:pPr algn="ctr">
              <a:defRPr sz="1400" b="1">
                <a:solidFill>
                  <a:srgbClr val="1A1A2E"/>
                </a:solidFill>
                <a:latin typeface="Calibri"/>
              </a:defRPr>
            </a:pPr>
            <a:r>
              <a:t>Clicks</a:t>
            </a:r>
            <a:br/>
            <a:r>
              <a:t>Login</a:t>
            </a:r>
          </a:p>
        </p:txBody>
      </p:sp>
      <p:sp>
        <p:nvSpPr>
          <p:cNvPr id="18" name="TextBox 17"/>
          <p:cNvSpPr txBox="1"/>
          <p:nvPr/>
        </p:nvSpPr>
        <p:spPr>
          <a:xfrm>
            <a:off x="4425696" y="3291840"/>
            <a:ext cx="1600200" cy="1097280"/>
          </a:xfrm>
          <a:prstGeom prst="rect">
            <a:avLst/>
          </a:prstGeom>
          <a:noFill/>
        </p:spPr>
        <p:txBody>
          <a:bodyPr wrap="square">
            <a:spAutoFit/>
          </a:bodyPr>
          <a:lstStyle/>
          <a:p>
            <a:pPr algn="ctr">
              <a:defRPr sz="1100">
                <a:solidFill>
                  <a:srgbClr val="666672"/>
                </a:solidFill>
                <a:latin typeface="Calibri"/>
              </a:defRPr>
            </a:pPr>
            <a:r>
              <a:t>Form submits, triggering</a:t>
            </a:r>
            <a:br/>
            <a:r>
              <a:t>the submit event handler</a:t>
            </a:r>
          </a:p>
        </p:txBody>
      </p:sp>
      <p:sp>
        <p:nvSpPr>
          <p:cNvPr id="19" name="Right Arrow 18"/>
          <p:cNvSpPr/>
          <p:nvPr/>
        </p:nvSpPr>
        <p:spPr>
          <a:xfrm>
            <a:off x="6144768" y="301752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72784" y="1828800"/>
            <a:ext cx="1783080" cy="292608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2784" y="1965960"/>
            <a:ext cx="1783080" cy="548640"/>
          </a:xfrm>
          <a:prstGeom prst="rect">
            <a:avLst/>
          </a:prstGeom>
          <a:noFill/>
        </p:spPr>
        <p:txBody>
          <a:bodyPr wrap="none">
            <a:spAutoFit/>
          </a:bodyPr>
          <a:lstStyle/>
          <a:p>
            <a:pPr algn="ctr">
              <a:defRPr sz="3000"/>
            </a:pPr>
            <a:r>
              <a:t>💾</a:t>
            </a:r>
          </a:p>
        </p:txBody>
      </p:sp>
      <p:sp>
        <p:nvSpPr>
          <p:cNvPr id="22" name="TextBox 21"/>
          <p:cNvSpPr txBox="1"/>
          <p:nvPr/>
        </p:nvSpPr>
        <p:spPr>
          <a:xfrm>
            <a:off x="6364224" y="2560320"/>
            <a:ext cx="1600200" cy="640080"/>
          </a:xfrm>
          <a:prstGeom prst="rect">
            <a:avLst/>
          </a:prstGeom>
          <a:noFill/>
        </p:spPr>
        <p:txBody>
          <a:bodyPr wrap="square">
            <a:spAutoFit/>
          </a:bodyPr>
          <a:lstStyle/>
          <a:p>
            <a:pPr algn="ctr">
              <a:defRPr sz="1400" b="1">
                <a:solidFill>
                  <a:srgbClr val="1A1A2E"/>
                </a:solidFill>
                <a:latin typeface="Calibri"/>
              </a:defRPr>
            </a:pPr>
            <a:r>
              <a:t>Username</a:t>
            </a:r>
            <a:br/>
            <a:r>
              <a:t>Saved</a:t>
            </a:r>
          </a:p>
        </p:txBody>
      </p:sp>
      <p:sp>
        <p:nvSpPr>
          <p:cNvPr id="23" name="TextBox 22"/>
          <p:cNvSpPr txBox="1"/>
          <p:nvPr/>
        </p:nvSpPr>
        <p:spPr>
          <a:xfrm>
            <a:off x="6364224" y="3291840"/>
            <a:ext cx="1600200" cy="1097280"/>
          </a:xfrm>
          <a:prstGeom prst="rect">
            <a:avLst/>
          </a:prstGeom>
          <a:noFill/>
        </p:spPr>
        <p:txBody>
          <a:bodyPr wrap="square">
            <a:spAutoFit/>
          </a:bodyPr>
          <a:lstStyle/>
          <a:p>
            <a:pPr algn="ctr">
              <a:defRPr sz="1100">
                <a:solidFill>
                  <a:srgbClr val="666672"/>
                </a:solidFill>
                <a:latin typeface="Calibri"/>
              </a:defRPr>
            </a:pPr>
            <a:r>
              <a:t>localStorage.setItem()</a:t>
            </a:r>
            <a:br/>
            <a:r>
              <a:t>stores the value</a:t>
            </a:r>
          </a:p>
        </p:txBody>
      </p:sp>
      <p:sp>
        <p:nvSpPr>
          <p:cNvPr id="24" name="Right Arrow 23"/>
          <p:cNvSpPr/>
          <p:nvPr/>
        </p:nvSpPr>
        <p:spPr>
          <a:xfrm>
            <a:off x="8083296" y="301752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11312" y="1828800"/>
            <a:ext cx="1783080" cy="292608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11312" y="1965960"/>
            <a:ext cx="1783080" cy="548640"/>
          </a:xfrm>
          <a:prstGeom prst="rect">
            <a:avLst/>
          </a:prstGeom>
          <a:noFill/>
        </p:spPr>
        <p:txBody>
          <a:bodyPr wrap="none">
            <a:spAutoFit/>
          </a:bodyPr>
          <a:lstStyle/>
          <a:p>
            <a:pPr algn="ctr">
              <a:defRPr sz="3000"/>
            </a:pPr>
            <a:r>
              <a:t>🔄</a:t>
            </a:r>
          </a:p>
        </p:txBody>
      </p:sp>
      <p:sp>
        <p:nvSpPr>
          <p:cNvPr id="27" name="TextBox 26"/>
          <p:cNvSpPr txBox="1"/>
          <p:nvPr/>
        </p:nvSpPr>
        <p:spPr>
          <a:xfrm>
            <a:off x="8302752" y="2560320"/>
            <a:ext cx="1600200" cy="640080"/>
          </a:xfrm>
          <a:prstGeom prst="rect">
            <a:avLst/>
          </a:prstGeom>
          <a:noFill/>
        </p:spPr>
        <p:txBody>
          <a:bodyPr wrap="square">
            <a:spAutoFit/>
          </a:bodyPr>
          <a:lstStyle/>
          <a:p>
            <a:pPr algn="ctr">
              <a:defRPr sz="1400" b="1">
                <a:solidFill>
                  <a:srgbClr val="1A1A2E"/>
                </a:solidFill>
                <a:latin typeface="Calibri"/>
              </a:defRPr>
            </a:pPr>
            <a:r>
              <a:t>Page</a:t>
            </a:r>
            <a:br/>
            <a:r>
              <a:t>Reloads</a:t>
            </a:r>
          </a:p>
        </p:txBody>
      </p:sp>
      <p:sp>
        <p:nvSpPr>
          <p:cNvPr id="28" name="TextBox 27"/>
          <p:cNvSpPr txBox="1"/>
          <p:nvPr/>
        </p:nvSpPr>
        <p:spPr>
          <a:xfrm>
            <a:off x="8302752" y="3291840"/>
            <a:ext cx="1600200" cy="1097280"/>
          </a:xfrm>
          <a:prstGeom prst="rect">
            <a:avLst/>
          </a:prstGeom>
          <a:noFill/>
        </p:spPr>
        <p:txBody>
          <a:bodyPr wrap="square">
            <a:spAutoFit/>
          </a:bodyPr>
          <a:lstStyle/>
          <a:p>
            <a:pPr algn="ctr">
              <a:defRPr sz="1100">
                <a:solidFill>
                  <a:srgbClr val="666672"/>
                </a:solidFill>
                <a:latin typeface="Calibri"/>
              </a:defRPr>
            </a:pPr>
            <a:r>
              <a:t>Browser navigates</a:t>
            </a:r>
            <a:br/>
            <a:r>
              <a:t>back to index.html</a:t>
            </a:r>
          </a:p>
        </p:txBody>
      </p:sp>
      <p:sp>
        <p:nvSpPr>
          <p:cNvPr id="29" name="Right Arrow 28"/>
          <p:cNvSpPr/>
          <p:nvPr/>
        </p:nvSpPr>
        <p:spPr>
          <a:xfrm>
            <a:off x="10021824" y="3017520"/>
            <a:ext cx="164592" cy="164592"/>
          </a:xfrm>
          <a:prstGeom prst="rightArrow">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149840" y="1828800"/>
            <a:ext cx="1783080" cy="2926080"/>
          </a:xfrm>
          <a:prstGeom prst="roundRect">
            <a:avLst/>
          </a:prstGeom>
          <a:solidFill>
            <a:srgbClr val="FFFFFF"/>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149840" y="1965960"/>
            <a:ext cx="1783080" cy="548640"/>
          </a:xfrm>
          <a:prstGeom prst="rect">
            <a:avLst/>
          </a:prstGeom>
          <a:noFill/>
        </p:spPr>
        <p:txBody>
          <a:bodyPr wrap="none">
            <a:spAutoFit/>
          </a:bodyPr>
          <a:lstStyle/>
          <a:p>
            <a:pPr algn="ctr">
              <a:defRPr sz="3000"/>
            </a:pPr>
            <a:r>
              <a:t>✨</a:t>
            </a:r>
          </a:p>
        </p:txBody>
      </p:sp>
      <p:sp>
        <p:nvSpPr>
          <p:cNvPr id="32" name="TextBox 31"/>
          <p:cNvSpPr txBox="1"/>
          <p:nvPr/>
        </p:nvSpPr>
        <p:spPr>
          <a:xfrm>
            <a:off x="10241280" y="2560320"/>
            <a:ext cx="1600200" cy="640080"/>
          </a:xfrm>
          <a:prstGeom prst="rect">
            <a:avLst/>
          </a:prstGeom>
          <a:noFill/>
        </p:spPr>
        <p:txBody>
          <a:bodyPr wrap="square">
            <a:spAutoFit/>
          </a:bodyPr>
          <a:lstStyle/>
          <a:p>
            <a:pPr algn="ctr">
              <a:defRPr sz="1400" b="1">
                <a:solidFill>
                  <a:srgbClr val="1A1A2E"/>
                </a:solidFill>
                <a:latin typeface="Calibri"/>
              </a:defRPr>
            </a:pPr>
            <a:r>
              <a:t>Username</a:t>
            </a:r>
            <a:br/>
            <a:r>
              <a:t>Auto-Filled</a:t>
            </a:r>
          </a:p>
        </p:txBody>
      </p:sp>
      <p:sp>
        <p:nvSpPr>
          <p:cNvPr id="33" name="TextBox 32"/>
          <p:cNvSpPr txBox="1"/>
          <p:nvPr/>
        </p:nvSpPr>
        <p:spPr>
          <a:xfrm>
            <a:off x="10241280" y="3291840"/>
            <a:ext cx="1600200" cy="1097280"/>
          </a:xfrm>
          <a:prstGeom prst="rect">
            <a:avLst/>
          </a:prstGeom>
          <a:noFill/>
        </p:spPr>
        <p:txBody>
          <a:bodyPr wrap="square">
            <a:spAutoFit/>
          </a:bodyPr>
          <a:lstStyle/>
          <a:p>
            <a:pPr algn="ctr">
              <a:defRPr sz="1100">
                <a:solidFill>
                  <a:srgbClr val="666672"/>
                </a:solidFill>
                <a:latin typeface="Calibri"/>
              </a:defRPr>
            </a:pPr>
            <a:r>
              <a:t>localStorage.getItem()</a:t>
            </a:r>
            <a:br/>
            <a:r>
              <a:t>restores the value</a:t>
            </a:r>
          </a:p>
        </p:txBody>
      </p:sp>
      <p:sp>
        <p:nvSpPr>
          <p:cNvPr id="34" name="Rounded Rectangle 33"/>
          <p:cNvSpPr/>
          <p:nvPr/>
        </p:nvSpPr>
        <p:spPr>
          <a:xfrm>
            <a:off x="731520" y="4937760"/>
            <a:ext cx="10515600" cy="13716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Text Flow Diagram:</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  User types username  →  Checks "Remember Me"  →  Clicks LOGIN</a:t>
            </a:r>
          </a:p>
          <a:p>
            <a:pPr>
              <a:spcBef>
                <a:spcPts val="200"/>
              </a:spcBef>
              <a:spcAft>
                <a:spcPts val="200"/>
              </a:spcAft>
              <a:defRPr sz="1200">
                <a:solidFill>
                  <a:srgbClr val="E2E8F0"/>
                </a:solidFill>
                <a:latin typeface="Consolas"/>
              </a:defRPr>
            </a:pPr>
            <a:r>
              <a:t>        ↓                                                  ↓</a:t>
            </a:r>
          </a:p>
          <a:p>
            <a:pPr>
              <a:spcBef>
                <a:spcPts val="200"/>
              </a:spcBef>
              <a:spcAft>
                <a:spcPts val="200"/>
              </a:spcAft>
              <a:defRPr sz="1200">
                <a:solidFill>
                  <a:srgbClr val="E2E8F0"/>
                </a:solidFill>
                <a:latin typeface="Consolas"/>
              </a:defRPr>
            </a:pPr>
            <a:r>
              <a:t>  submit event fires  ←───────────────────────────┘</a:t>
            </a:r>
          </a:p>
          <a:p>
            <a:pPr>
              <a:spcBef>
                <a:spcPts val="200"/>
              </a:spcBef>
              <a:spcAft>
                <a:spcPts val="200"/>
              </a:spcAft>
              <a:defRPr sz="1200">
                <a:solidFill>
                  <a:srgbClr val="E2E8F0"/>
                </a:solidFill>
                <a:latin typeface="Consolas"/>
              </a:defRPr>
            </a:pPr>
            <a:r>
              <a:t>        ↓</a:t>
            </a:r>
          </a:p>
          <a:p>
            <a:pPr>
              <a:spcBef>
                <a:spcPts val="200"/>
              </a:spcBef>
              <a:spcAft>
                <a:spcPts val="200"/>
              </a:spcAft>
              <a:defRPr sz="1200">
                <a:solidFill>
                  <a:srgbClr val="E2E8F0"/>
                </a:solidFill>
                <a:latin typeface="Consolas"/>
              </a:defRPr>
            </a:pPr>
            <a:r>
              <a:t>  localStorage.setItem("rememberedUsername", value)</a:t>
            </a:r>
          </a:p>
          <a:p>
            <a:pPr>
              <a:spcBef>
                <a:spcPts val="200"/>
              </a:spcBef>
              <a:spcAft>
                <a:spcPts val="200"/>
              </a:spcAft>
              <a:defRPr sz="1200">
                <a:solidFill>
                  <a:srgbClr val="E2E8F0"/>
                </a:solidFill>
                <a:latin typeface="Consolas"/>
              </a:defRPr>
            </a:pPr>
            <a:r>
              <a:t>        ↓</a:t>
            </a:r>
          </a:p>
          <a:p>
            <a:pPr>
              <a:spcBef>
                <a:spcPts val="200"/>
              </a:spcBef>
              <a:spcAft>
                <a:spcPts val="200"/>
              </a:spcAft>
              <a:defRPr sz="1200">
                <a:solidFill>
                  <a:srgbClr val="E2E8F0"/>
                </a:solidFill>
                <a:latin typeface="Consolas"/>
              </a:defRPr>
            </a:pPr>
            <a:r>
              <a:t>  Page reloads  →  DOMContentLoaded  →  localStorage.getItem()</a:t>
            </a:r>
          </a:p>
          <a:p>
            <a:pPr>
              <a:spcBef>
                <a:spcPts val="200"/>
              </a:spcBef>
              <a:spcAft>
                <a:spcPts val="200"/>
              </a:spcAft>
              <a:defRPr sz="1200">
                <a:solidFill>
                  <a:srgbClr val="E2E8F0"/>
                </a:solidFill>
                <a:latin typeface="Consolas"/>
              </a:defRPr>
            </a:pPr>
            <a:r>
              <a:t>        ↓</a:t>
            </a:r>
          </a:p>
          <a:p>
            <a:pPr>
              <a:spcBef>
                <a:spcPts val="200"/>
              </a:spcBef>
              <a:spcAft>
                <a:spcPts val="200"/>
              </a:spcAft>
              <a:defRPr sz="1200">
                <a:solidFill>
                  <a:srgbClr val="E2E8F0"/>
                </a:solidFill>
                <a:latin typeface="Consolas"/>
              </a:defRPr>
            </a:pPr>
            <a:r>
              <a:t>  Username auto-filled  +  Checkbox re-checked  +  Label animated up</a:t>
            </a:r>
          </a:p>
        </p:txBody>
      </p:sp>
      <p:sp>
        <p:nvSpPr>
          <p:cNvPr id="35" name="TextBox 34"/>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36" name="TextBox 35"/>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Code Example — HTML</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The checkbox markup added to index.html</a:t>
            </a:r>
          </a:p>
        </p:txBody>
      </p:sp>
      <p:sp>
        <p:nvSpPr>
          <p:cNvPr id="5" name="TextBox 4"/>
          <p:cNvSpPr txBox="1"/>
          <p:nvPr/>
        </p:nvSpPr>
        <p:spPr>
          <a:xfrm>
            <a:off x="731520" y="1234440"/>
            <a:ext cx="6583680" cy="274320"/>
          </a:xfrm>
          <a:prstGeom prst="rect">
            <a:avLst/>
          </a:prstGeom>
          <a:noFill/>
        </p:spPr>
        <p:txBody>
          <a:bodyPr wrap="none">
            <a:spAutoFit/>
          </a:bodyPr>
          <a:lstStyle/>
          <a:p>
            <a:pPr>
              <a:defRPr sz="1100" b="1">
                <a:solidFill>
                  <a:srgbClr val="666672"/>
                </a:solidFill>
                <a:latin typeface="Calibri"/>
              </a:defRPr>
            </a:pPr>
            <a:r>
              <a:t>index.html</a:t>
            </a:r>
          </a:p>
        </p:txBody>
      </p:sp>
      <p:sp>
        <p:nvSpPr>
          <p:cNvPr id="6" name="Rounded Rectangle 5"/>
          <p:cNvSpPr/>
          <p:nvPr/>
        </p:nvSpPr>
        <p:spPr>
          <a:xfrm>
            <a:off x="731520" y="1554480"/>
            <a:ext cx="6583680" cy="29260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&lt;!-- Added below the password input-div --&gt;</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&lt;div class="remember-me"&gt;</a:t>
            </a:r>
          </a:p>
          <a:p>
            <a:pPr>
              <a:spcBef>
                <a:spcPts val="200"/>
              </a:spcBef>
              <a:spcAft>
                <a:spcPts val="200"/>
              </a:spcAft>
              <a:defRPr sz="1200">
                <a:solidFill>
                  <a:srgbClr val="E2E8F0"/>
                </a:solidFill>
                <a:latin typeface="Consolas"/>
              </a:defRPr>
            </a:pPr>
            <a:r>
              <a:t>    &lt;label&gt;</a:t>
            </a:r>
          </a:p>
          <a:p>
            <a:pPr>
              <a:spcBef>
                <a:spcPts val="200"/>
              </a:spcBef>
              <a:spcAft>
                <a:spcPts val="200"/>
              </a:spcAft>
              <a:defRPr sz="1200">
                <a:solidFill>
                  <a:srgbClr val="E2E8F0"/>
                </a:solidFill>
                <a:latin typeface="Consolas"/>
              </a:defRPr>
            </a:pPr>
            <a:r>
              <a:t>        &lt;input type="checkbox" id="remember"&gt;</a:t>
            </a:r>
          </a:p>
          <a:p>
            <a:pPr>
              <a:spcBef>
                <a:spcPts val="200"/>
              </a:spcBef>
              <a:spcAft>
                <a:spcPts val="200"/>
              </a:spcAft>
              <a:defRPr sz="1200">
                <a:solidFill>
                  <a:srgbClr val="E2E8F0"/>
                </a:solidFill>
                <a:latin typeface="Consolas"/>
              </a:defRPr>
            </a:pPr>
            <a:r>
              <a:t>        &lt;span&gt;Remember Me&lt;/span&gt;</a:t>
            </a:r>
          </a:p>
          <a:p>
            <a:pPr>
              <a:spcBef>
                <a:spcPts val="200"/>
              </a:spcBef>
              <a:spcAft>
                <a:spcPts val="200"/>
              </a:spcAft>
              <a:defRPr sz="1200">
                <a:solidFill>
                  <a:srgbClr val="E2E8F0"/>
                </a:solidFill>
                <a:latin typeface="Consolas"/>
              </a:defRPr>
            </a:pPr>
            <a:r>
              <a:t>    &lt;/label&gt;</a:t>
            </a:r>
          </a:p>
          <a:p>
            <a:pPr>
              <a:spcBef>
                <a:spcPts val="200"/>
              </a:spcBef>
              <a:spcAft>
                <a:spcPts val="200"/>
              </a:spcAft>
              <a:defRPr sz="1200">
                <a:solidFill>
                  <a:srgbClr val="E2E8F0"/>
                </a:solidFill>
                <a:latin typeface="Consolas"/>
              </a:defRPr>
            </a:pPr>
            <a:r>
              <a:t>    &lt;a href="#"&gt;Forgot Password?&lt;/a&gt;</a:t>
            </a:r>
          </a:p>
          <a:p>
            <a:pPr>
              <a:spcBef>
                <a:spcPts val="200"/>
              </a:spcBef>
              <a:spcAft>
                <a:spcPts val="200"/>
              </a:spcAft>
              <a:defRPr sz="1200">
                <a:solidFill>
                  <a:srgbClr val="E2E8F0"/>
                </a:solidFill>
                <a:latin typeface="Consolas"/>
              </a:defRPr>
            </a:pPr>
            <a:r>
              <a:t>&lt;/div&gt;</a:t>
            </a:r>
          </a:p>
        </p:txBody>
      </p:sp>
      <p:sp>
        <p:nvSpPr>
          <p:cNvPr id="7" name="Rounded Rectangle 6"/>
          <p:cNvSpPr/>
          <p:nvPr/>
        </p:nvSpPr>
        <p:spPr>
          <a:xfrm>
            <a:off x="7772400" y="1554480"/>
            <a:ext cx="393192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0" y="1554480"/>
            <a:ext cx="54864" cy="1005840"/>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73568" y="1664208"/>
            <a:ext cx="3611880" cy="320040"/>
          </a:xfrm>
          <a:prstGeom prst="rect">
            <a:avLst/>
          </a:prstGeom>
          <a:noFill/>
        </p:spPr>
        <p:txBody>
          <a:bodyPr wrap="none">
            <a:spAutoFit/>
          </a:bodyPr>
          <a:lstStyle/>
          <a:p>
            <a:pPr>
              <a:defRPr sz="1400" b="1">
                <a:solidFill>
                  <a:srgbClr val="1A1A2E"/>
                </a:solidFill>
                <a:latin typeface="Calibri"/>
              </a:defRPr>
            </a:pPr>
            <a:r>
              <a:t>📦  Wrapper: div.remember-me</a:t>
            </a:r>
          </a:p>
        </p:txBody>
      </p:sp>
      <p:sp>
        <p:nvSpPr>
          <p:cNvPr id="10" name="TextBox 9"/>
          <p:cNvSpPr txBox="1"/>
          <p:nvPr/>
        </p:nvSpPr>
        <p:spPr>
          <a:xfrm>
            <a:off x="7973568" y="1993392"/>
            <a:ext cx="3611880" cy="502920"/>
          </a:xfrm>
          <a:prstGeom prst="rect">
            <a:avLst/>
          </a:prstGeom>
          <a:noFill/>
        </p:spPr>
        <p:txBody>
          <a:bodyPr wrap="square">
            <a:spAutoFit/>
          </a:bodyPr>
          <a:lstStyle/>
          <a:p>
            <a:pPr>
              <a:spcAft>
                <a:spcPts val="300"/>
              </a:spcAft>
              <a:defRPr sz="1200">
                <a:solidFill>
                  <a:srgbClr val="666672"/>
                </a:solidFill>
                <a:latin typeface="Calibri"/>
              </a:defRPr>
            </a:pPr>
            <a:r>
              <a:t>A flex container that holds the checkbox on the left</a:t>
            </a:r>
          </a:p>
          <a:p>
            <a:pPr>
              <a:spcAft>
                <a:spcPts val="300"/>
              </a:spcAft>
              <a:defRPr sz="1200">
                <a:solidFill>
                  <a:srgbClr val="666672"/>
                </a:solidFill>
                <a:latin typeface="Calibri"/>
              </a:defRPr>
            </a:pPr>
            <a:r>
              <a:t>and the Forgot Password link on the right.</a:t>
            </a:r>
          </a:p>
        </p:txBody>
      </p:sp>
      <p:sp>
        <p:nvSpPr>
          <p:cNvPr id="11" name="Rounded Rectangle 10"/>
          <p:cNvSpPr/>
          <p:nvPr/>
        </p:nvSpPr>
        <p:spPr>
          <a:xfrm>
            <a:off x="7772400" y="2697480"/>
            <a:ext cx="393192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2697480"/>
            <a:ext cx="54864" cy="1005840"/>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73568" y="2807208"/>
            <a:ext cx="3611880" cy="320040"/>
          </a:xfrm>
          <a:prstGeom prst="rect">
            <a:avLst/>
          </a:prstGeom>
          <a:noFill/>
        </p:spPr>
        <p:txBody>
          <a:bodyPr wrap="none">
            <a:spAutoFit/>
          </a:bodyPr>
          <a:lstStyle/>
          <a:p>
            <a:pPr>
              <a:defRPr sz="1400" b="1">
                <a:solidFill>
                  <a:srgbClr val="1A1A2E"/>
                </a:solidFill>
                <a:latin typeface="Calibri"/>
              </a:defRPr>
            </a:pPr>
            <a:r>
              <a:t>☑️  Checkbox: input#remember</a:t>
            </a:r>
          </a:p>
        </p:txBody>
      </p:sp>
      <p:sp>
        <p:nvSpPr>
          <p:cNvPr id="14" name="TextBox 13"/>
          <p:cNvSpPr txBox="1"/>
          <p:nvPr/>
        </p:nvSpPr>
        <p:spPr>
          <a:xfrm>
            <a:off x="7973568" y="3136392"/>
            <a:ext cx="3611880" cy="502920"/>
          </a:xfrm>
          <a:prstGeom prst="rect">
            <a:avLst/>
          </a:prstGeom>
          <a:noFill/>
        </p:spPr>
        <p:txBody>
          <a:bodyPr wrap="square">
            <a:spAutoFit/>
          </a:bodyPr>
          <a:lstStyle/>
          <a:p>
            <a:pPr>
              <a:spcAft>
                <a:spcPts val="300"/>
              </a:spcAft>
              <a:defRPr sz="1200">
                <a:solidFill>
                  <a:srgbClr val="666672"/>
                </a:solidFill>
                <a:latin typeface="Calibri"/>
              </a:defRPr>
            </a:pPr>
            <a:r>
              <a:t>A standard HTML checkbox with id="remember" so</a:t>
            </a:r>
          </a:p>
          <a:p>
            <a:pPr>
              <a:spcAft>
                <a:spcPts val="300"/>
              </a:spcAft>
              <a:defRPr sz="1200">
                <a:solidFill>
                  <a:srgbClr val="666672"/>
                </a:solidFill>
                <a:latin typeface="Calibri"/>
              </a:defRPr>
            </a:pPr>
            <a:r>
              <a:t>JavaScript can easily find and read its state.</a:t>
            </a:r>
          </a:p>
        </p:txBody>
      </p:sp>
      <p:sp>
        <p:nvSpPr>
          <p:cNvPr id="15" name="Rounded Rectangle 14"/>
          <p:cNvSpPr/>
          <p:nvPr/>
        </p:nvSpPr>
        <p:spPr>
          <a:xfrm>
            <a:off x="7772400" y="3840480"/>
            <a:ext cx="393192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0" y="3840480"/>
            <a:ext cx="54864" cy="1005840"/>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73568" y="3950208"/>
            <a:ext cx="3611880" cy="320040"/>
          </a:xfrm>
          <a:prstGeom prst="rect">
            <a:avLst/>
          </a:prstGeom>
          <a:noFill/>
        </p:spPr>
        <p:txBody>
          <a:bodyPr wrap="none">
            <a:spAutoFit/>
          </a:bodyPr>
          <a:lstStyle/>
          <a:p>
            <a:pPr>
              <a:defRPr sz="1400" b="1">
                <a:solidFill>
                  <a:srgbClr val="1A1A2E"/>
                </a:solidFill>
                <a:latin typeface="Calibri"/>
              </a:defRPr>
            </a:pPr>
            <a:r>
              <a:t>🏷️  Label wraps checkbox + text</a:t>
            </a:r>
          </a:p>
        </p:txBody>
      </p:sp>
      <p:sp>
        <p:nvSpPr>
          <p:cNvPr id="18" name="TextBox 17"/>
          <p:cNvSpPr txBox="1"/>
          <p:nvPr/>
        </p:nvSpPr>
        <p:spPr>
          <a:xfrm>
            <a:off x="7973568" y="4279392"/>
            <a:ext cx="3611880" cy="502920"/>
          </a:xfrm>
          <a:prstGeom prst="rect">
            <a:avLst/>
          </a:prstGeom>
          <a:noFill/>
        </p:spPr>
        <p:txBody>
          <a:bodyPr wrap="square">
            <a:spAutoFit/>
          </a:bodyPr>
          <a:lstStyle/>
          <a:p>
            <a:pPr>
              <a:spcAft>
                <a:spcPts val="300"/>
              </a:spcAft>
              <a:defRPr sz="1200">
                <a:solidFill>
                  <a:srgbClr val="666672"/>
                </a:solidFill>
                <a:latin typeface="Calibri"/>
              </a:defRPr>
            </a:pPr>
            <a:r>
              <a:t>Clicking anywhere on "Remember Me" text will also</a:t>
            </a:r>
          </a:p>
          <a:p>
            <a:pPr>
              <a:spcAft>
                <a:spcPts val="300"/>
              </a:spcAft>
              <a:defRPr sz="1200">
                <a:solidFill>
                  <a:srgbClr val="666672"/>
                </a:solidFill>
                <a:latin typeface="Calibri"/>
              </a:defRPr>
            </a:pPr>
            <a:r>
              <a:t>toggle the checkbox. Better user experience.</a:t>
            </a:r>
          </a:p>
        </p:txBody>
      </p:sp>
      <p:sp>
        <p:nvSpPr>
          <p:cNvPr id="19" name="Rounded Rectangle 18"/>
          <p:cNvSpPr/>
          <p:nvPr/>
        </p:nvSpPr>
        <p:spPr>
          <a:xfrm>
            <a:off x="7772400" y="4983480"/>
            <a:ext cx="393192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0" y="4983480"/>
            <a:ext cx="54864" cy="1005840"/>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73568" y="5093208"/>
            <a:ext cx="3611880" cy="320040"/>
          </a:xfrm>
          <a:prstGeom prst="rect">
            <a:avLst/>
          </a:prstGeom>
          <a:noFill/>
        </p:spPr>
        <p:txBody>
          <a:bodyPr wrap="none">
            <a:spAutoFit/>
          </a:bodyPr>
          <a:lstStyle/>
          <a:p>
            <a:pPr>
              <a:defRPr sz="1400" b="1">
                <a:solidFill>
                  <a:srgbClr val="1A1A2E"/>
                </a:solidFill>
                <a:latin typeface="Calibri"/>
              </a:defRPr>
            </a:pPr>
            <a:r>
              <a:t>🔗  Link moved inside wrapper</a:t>
            </a:r>
          </a:p>
        </p:txBody>
      </p:sp>
      <p:sp>
        <p:nvSpPr>
          <p:cNvPr id="22" name="TextBox 21"/>
          <p:cNvSpPr txBox="1"/>
          <p:nvPr/>
        </p:nvSpPr>
        <p:spPr>
          <a:xfrm>
            <a:off x="7973568" y="5422392"/>
            <a:ext cx="3611880" cy="502920"/>
          </a:xfrm>
          <a:prstGeom prst="rect">
            <a:avLst/>
          </a:prstGeom>
          <a:noFill/>
        </p:spPr>
        <p:txBody>
          <a:bodyPr wrap="square">
            <a:spAutoFit/>
          </a:bodyPr>
          <a:lstStyle/>
          <a:p>
            <a:pPr>
              <a:spcAft>
                <a:spcPts val="300"/>
              </a:spcAft>
              <a:defRPr sz="1200">
                <a:solidFill>
                  <a:srgbClr val="666672"/>
                </a:solidFill>
                <a:latin typeface="Calibri"/>
              </a:defRPr>
            </a:pPr>
            <a:r>
              <a:t>Forgot Password link now sits inside the same flex</a:t>
            </a:r>
          </a:p>
          <a:p>
            <a:pPr>
              <a:spcAft>
                <a:spcPts val="300"/>
              </a:spcAft>
              <a:defRPr sz="1200">
                <a:solidFill>
                  <a:srgbClr val="666672"/>
                </a:solidFill>
                <a:latin typeface="Calibri"/>
              </a:defRPr>
            </a:pPr>
            <a:r>
              <a:t>row, aligned to the right with space-between.</a:t>
            </a:r>
          </a:p>
        </p:txBody>
      </p:sp>
      <p:sp>
        <p:nvSpPr>
          <p:cNvPr id="23" name="TextBox 22"/>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24" name="TextBox 23"/>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Code Example — JavaScript</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Save to localStorage on submit, restore on page load</a:t>
            </a:r>
          </a:p>
        </p:txBody>
      </p:sp>
      <p:sp>
        <p:nvSpPr>
          <p:cNvPr id="5" name="TextBox 4"/>
          <p:cNvSpPr txBox="1"/>
          <p:nvPr/>
        </p:nvSpPr>
        <p:spPr>
          <a:xfrm>
            <a:off x="731520" y="1234440"/>
            <a:ext cx="5303520" cy="274320"/>
          </a:xfrm>
          <a:prstGeom prst="rect">
            <a:avLst/>
          </a:prstGeom>
          <a:noFill/>
        </p:spPr>
        <p:txBody>
          <a:bodyPr wrap="none">
            <a:spAutoFit/>
          </a:bodyPr>
          <a:lstStyle/>
          <a:p>
            <a:pPr>
              <a:defRPr sz="1100" b="1">
                <a:solidFill>
                  <a:srgbClr val="666672"/>
                </a:solidFill>
                <a:latin typeface="Calibri"/>
              </a:defRPr>
            </a:pPr>
            <a:r>
              <a:t>js/main.js — Save Logic</a:t>
            </a:r>
          </a:p>
        </p:txBody>
      </p:sp>
      <p:sp>
        <p:nvSpPr>
          <p:cNvPr id="6" name="Rounded Rectangle 5"/>
          <p:cNvSpPr/>
          <p:nvPr/>
        </p:nvSpPr>
        <p:spPr>
          <a:xfrm>
            <a:off x="731520" y="1554480"/>
            <a:ext cx="530352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 Get references to DOM elements</a:t>
            </a:r>
          </a:p>
          <a:p>
            <a:pPr>
              <a:spcBef>
                <a:spcPts val="200"/>
              </a:spcBef>
              <a:spcAft>
                <a:spcPts val="200"/>
              </a:spcAft>
              <a:defRPr sz="1200">
                <a:solidFill>
                  <a:srgbClr val="E2E8F0"/>
                </a:solidFill>
                <a:latin typeface="Consolas"/>
              </a:defRPr>
            </a:pPr>
            <a:r>
              <a:t>const rememberCheckbox = document</a:t>
            </a:r>
          </a:p>
          <a:p>
            <a:pPr>
              <a:spcBef>
                <a:spcPts val="200"/>
              </a:spcBef>
              <a:spcAft>
                <a:spcPts val="200"/>
              </a:spcAft>
              <a:defRPr sz="1200">
                <a:solidFill>
                  <a:srgbClr val="E2E8F0"/>
                </a:solidFill>
                <a:latin typeface="Consolas"/>
              </a:defRPr>
            </a:pPr>
            <a:r>
              <a:t>    .getElementById("remember");</a:t>
            </a:r>
          </a:p>
          <a:p>
            <a:pPr>
              <a:spcBef>
                <a:spcPts val="200"/>
              </a:spcBef>
              <a:spcAft>
                <a:spcPts val="200"/>
              </a:spcAft>
              <a:defRPr sz="1200">
                <a:solidFill>
                  <a:srgbClr val="E2E8F0"/>
                </a:solidFill>
                <a:latin typeface="Consolas"/>
              </a:defRPr>
            </a:pPr>
            <a:r>
              <a:t>const usernameInput = document</a:t>
            </a:r>
          </a:p>
          <a:p>
            <a:pPr>
              <a:spcBef>
                <a:spcPts val="200"/>
              </a:spcBef>
              <a:spcAft>
                <a:spcPts val="200"/>
              </a:spcAft>
              <a:defRPr sz="1200">
                <a:solidFill>
                  <a:srgbClr val="E2E8F0"/>
                </a:solidFill>
                <a:latin typeface="Consolas"/>
              </a:defRPr>
            </a:pPr>
            <a:r>
              <a:t>    .querySelector(".input-div.one .input");</a:t>
            </a:r>
          </a:p>
          <a:p>
            <a:pPr>
              <a:spcBef>
                <a:spcPts val="200"/>
              </a:spcBef>
              <a:spcAft>
                <a:spcPts val="200"/>
              </a:spcAft>
              <a:defRPr sz="1200">
                <a:solidFill>
                  <a:srgbClr val="E2E8F0"/>
                </a:solidFill>
                <a:latin typeface="Consolas"/>
              </a:defRPr>
            </a:pPr>
            <a:r>
              <a:t>const loginForm = document</a:t>
            </a:r>
          </a:p>
          <a:p>
            <a:pPr>
              <a:spcBef>
                <a:spcPts val="200"/>
              </a:spcBef>
              <a:spcAft>
                <a:spcPts val="200"/>
              </a:spcAft>
              <a:defRPr sz="1200">
                <a:solidFill>
                  <a:srgbClr val="E2E8F0"/>
                </a:solidFill>
                <a:latin typeface="Consolas"/>
              </a:defRPr>
            </a:pPr>
            <a:r>
              <a:t>    .querySelector("form");</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 On form submit: save or clear username</a:t>
            </a:r>
          </a:p>
          <a:p>
            <a:pPr>
              <a:spcBef>
                <a:spcPts val="200"/>
              </a:spcBef>
              <a:spcAft>
                <a:spcPts val="200"/>
              </a:spcAft>
              <a:defRPr sz="1200">
                <a:solidFill>
                  <a:srgbClr val="E2E8F0"/>
                </a:solidFill>
                <a:latin typeface="Consolas"/>
              </a:defRPr>
            </a:pPr>
            <a:r>
              <a:t>loginForm.addEventListener("submit",</a:t>
            </a:r>
          </a:p>
          <a:p>
            <a:pPr>
              <a:spcBef>
                <a:spcPts val="200"/>
              </a:spcBef>
              <a:spcAft>
                <a:spcPts val="200"/>
              </a:spcAft>
              <a:defRPr sz="1200">
                <a:solidFill>
                  <a:srgbClr val="E2E8F0"/>
                </a:solidFill>
                <a:latin typeface="Consolas"/>
              </a:defRPr>
            </a:pPr>
            <a:r>
              <a:t>  function() {</a:t>
            </a:r>
          </a:p>
          <a:p>
            <a:pPr>
              <a:spcBef>
                <a:spcPts val="200"/>
              </a:spcBef>
              <a:spcAft>
                <a:spcPts val="200"/>
              </a:spcAft>
              <a:defRPr sz="1200">
                <a:solidFill>
                  <a:srgbClr val="E2E8F0"/>
                </a:solidFill>
                <a:latin typeface="Consolas"/>
              </a:defRPr>
            </a:pPr>
            <a:r>
              <a:t>    if (rememberCheckbox.checked) {</a:t>
            </a:r>
          </a:p>
          <a:p>
            <a:pPr>
              <a:spcBef>
                <a:spcPts val="200"/>
              </a:spcBef>
              <a:spcAft>
                <a:spcPts val="200"/>
              </a:spcAft>
              <a:defRPr sz="1200">
                <a:solidFill>
                  <a:srgbClr val="E2E8F0"/>
                </a:solidFill>
                <a:latin typeface="Consolas"/>
              </a:defRPr>
            </a:pPr>
            <a:r>
              <a:t>        localStorage.setItem(</a:t>
            </a:r>
          </a:p>
          <a:p>
            <a:pPr>
              <a:spcBef>
                <a:spcPts val="200"/>
              </a:spcBef>
              <a:spcAft>
                <a:spcPts val="200"/>
              </a:spcAft>
              <a:defRPr sz="1200">
                <a:solidFill>
                  <a:srgbClr val="E2E8F0"/>
                </a:solidFill>
                <a:latin typeface="Consolas"/>
              </a:defRPr>
            </a:pPr>
            <a:r>
              <a:t>            "rememberedUsername",</a:t>
            </a:r>
          </a:p>
          <a:p>
            <a:pPr>
              <a:spcBef>
                <a:spcPts val="200"/>
              </a:spcBef>
              <a:spcAft>
                <a:spcPts val="200"/>
              </a:spcAft>
              <a:defRPr sz="1200">
                <a:solidFill>
                  <a:srgbClr val="E2E8F0"/>
                </a:solidFill>
                <a:latin typeface="Consolas"/>
              </a:defRPr>
            </a:pPr>
            <a:r>
              <a:t>            usernameInput.value</a:t>
            </a:r>
          </a:p>
          <a:p>
            <a:pPr>
              <a:spcBef>
                <a:spcPts val="200"/>
              </a:spcBef>
              <a:spcAft>
                <a:spcPts val="200"/>
              </a:spcAft>
              <a:defRPr sz="1200">
                <a:solidFill>
                  <a:srgbClr val="E2E8F0"/>
                </a:solidFill>
                <a:latin typeface="Consolas"/>
              </a:defRPr>
            </a:pPr>
            <a:r>
              <a:t>        );</a:t>
            </a:r>
          </a:p>
          <a:p>
            <a:pPr>
              <a:spcBef>
                <a:spcPts val="200"/>
              </a:spcBef>
              <a:spcAft>
                <a:spcPts val="200"/>
              </a:spcAft>
              <a:defRPr sz="1200">
                <a:solidFill>
                  <a:srgbClr val="E2E8F0"/>
                </a:solidFill>
                <a:latin typeface="Consolas"/>
              </a:defRPr>
            </a:pPr>
            <a:r>
              <a:t>    } else {</a:t>
            </a:r>
          </a:p>
          <a:p>
            <a:pPr>
              <a:spcBef>
                <a:spcPts val="200"/>
              </a:spcBef>
              <a:spcAft>
                <a:spcPts val="200"/>
              </a:spcAft>
              <a:defRPr sz="1200">
                <a:solidFill>
                  <a:srgbClr val="E2E8F0"/>
                </a:solidFill>
                <a:latin typeface="Consolas"/>
              </a:defRPr>
            </a:pPr>
            <a:r>
              <a:t>        localStorage.removeItem(</a:t>
            </a:r>
          </a:p>
          <a:p>
            <a:pPr>
              <a:spcBef>
                <a:spcPts val="200"/>
              </a:spcBef>
              <a:spcAft>
                <a:spcPts val="200"/>
              </a:spcAft>
              <a:defRPr sz="1200">
                <a:solidFill>
                  <a:srgbClr val="E2E8F0"/>
                </a:solidFill>
                <a:latin typeface="Consolas"/>
              </a:defRPr>
            </a:pPr>
            <a:r>
              <a:t>            "rememberedUsername"</a:t>
            </a:r>
          </a:p>
          <a:p>
            <a:pPr>
              <a:spcBef>
                <a:spcPts val="200"/>
              </a:spcBef>
              <a:spcAft>
                <a:spcPts val="200"/>
              </a:spcAft>
              <a:defRPr sz="1200">
                <a:solidFill>
                  <a:srgbClr val="E2E8F0"/>
                </a:solidFill>
                <a:latin typeface="Consolas"/>
              </a:defRPr>
            </a:pPr>
            <a:r>
              <a:t>        );</a:t>
            </a:r>
          </a:p>
          <a:p>
            <a:pPr>
              <a:spcBef>
                <a:spcPts val="200"/>
              </a:spcBef>
              <a:spcAft>
                <a:spcPts val="200"/>
              </a:spcAft>
              <a:defRPr sz="1200">
                <a:solidFill>
                  <a:srgbClr val="E2E8F0"/>
                </a:solidFill>
                <a:latin typeface="Consolas"/>
              </a:defRPr>
            </a:pPr>
            <a:r>
              <a:t>    }</a:t>
            </a:r>
          </a:p>
          <a:p>
            <a:pPr>
              <a:spcBef>
                <a:spcPts val="200"/>
              </a:spcBef>
              <a:spcAft>
                <a:spcPts val="200"/>
              </a:spcAft>
              <a:defRPr sz="1200">
                <a:solidFill>
                  <a:srgbClr val="E2E8F0"/>
                </a:solidFill>
                <a:latin typeface="Consolas"/>
              </a:defRPr>
            </a:pPr>
            <a:r>
              <a:t>});</a:t>
            </a:r>
          </a:p>
        </p:txBody>
      </p:sp>
      <p:sp>
        <p:nvSpPr>
          <p:cNvPr id="7" name="TextBox 6"/>
          <p:cNvSpPr txBox="1"/>
          <p:nvPr/>
        </p:nvSpPr>
        <p:spPr>
          <a:xfrm>
            <a:off x="6400800" y="1234440"/>
            <a:ext cx="5303520" cy="274320"/>
          </a:xfrm>
          <a:prstGeom prst="rect">
            <a:avLst/>
          </a:prstGeom>
          <a:noFill/>
        </p:spPr>
        <p:txBody>
          <a:bodyPr wrap="none">
            <a:spAutoFit/>
          </a:bodyPr>
          <a:lstStyle/>
          <a:p>
            <a:pPr>
              <a:defRPr sz="1100" b="1">
                <a:solidFill>
                  <a:srgbClr val="666672"/>
                </a:solidFill>
                <a:latin typeface="Calibri"/>
              </a:defRPr>
            </a:pPr>
            <a:r>
              <a:t>js/main.js — Load Logic</a:t>
            </a:r>
          </a:p>
        </p:txBody>
      </p:sp>
      <p:sp>
        <p:nvSpPr>
          <p:cNvPr id="8" name="Rounded Rectangle 7"/>
          <p:cNvSpPr/>
          <p:nvPr/>
        </p:nvSpPr>
        <p:spPr>
          <a:xfrm>
            <a:off x="6400800" y="1554480"/>
            <a:ext cx="5303520" cy="4572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 On page load: restore saved username</a:t>
            </a:r>
          </a:p>
          <a:p>
            <a:pPr>
              <a:spcBef>
                <a:spcPts val="200"/>
              </a:spcBef>
              <a:spcAft>
                <a:spcPts val="200"/>
              </a:spcAft>
              <a:defRPr sz="1200">
                <a:solidFill>
                  <a:srgbClr val="E2E8F0"/>
                </a:solidFill>
                <a:latin typeface="Consolas"/>
              </a:defRPr>
            </a:pPr>
            <a:r>
              <a:t>window.addEventListener(</a:t>
            </a:r>
          </a:p>
          <a:p>
            <a:pPr>
              <a:spcBef>
                <a:spcPts val="200"/>
              </a:spcBef>
              <a:spcAft>
                <a:spcPts val="200"/>
              </a:spcAft>
              <a:defRPr sz="1200">
                <a:solidFill>
                  <a:srgbClr val="E2E8F0"/>
                </a:solidFill>
                <a:latin typeface="Consolas"/>
              </a:defRPr>
            </a:pPr>
            <a:r>
              <a:t>  "DOMContentLoaded",</a:t>
            </a:r>
          </a:p>
          <a:p>
            <a:pPr>
              <a:spcBef>
                <a:spcPts val="200"/>
              </a:spcBef>
              <a:spcAft>
                <a:spcPts val="200"/>
              </a:spcAft>
              <a:defRPr sz="1200">
                <a:solidFill>
                  <a:srgbClr val="E2E8F0"/>
                </a:solidFill>
                <a:latin typeface="Consolas"/>
              </a:defRPr>
            </a:pPr>
            <a:r>
              <a:t>  function() {</a:t>
            </a:r>
          </a:p>
          <a:p>
            <a:pPr>
              <a:spcBef>
                <a:spcPts val="200"/>
              </a:spcBef>
              <a:spcAft>
                <a:spcPts val="200"/>
              </a:spcAft>
              <a:defRPr sz="1200">
                <a:solidFill>
                  <a:srgbClr val="E2E8F0"/>
                </a:solidFill>
                <a:latin typeface="Consolas"/>
              </a:defRPr>
            </a:pPr>
            <a:r>
              <a:t>    const saved = localStorage</a:t>
            </a:r>
          </a:p>
          <a:p>
            <a:pPr>
              <a:spcBef>
                <a:spcPts val="200"/>
              </a:spcBef>
              <a:spcAft>
                <a:spcPts val="200"/>
              </a:spcAft>
              <a:defRPr sz="1200">
                <a:solidFill>
                  <a:srgbClr val="E2E8F0"/>
                </a:solidFill>
                <a:latin typeface="Consolas"/>
              </a:defRPr>
            </a:pPr>
            <a:r>
              <a:t>        .getItem("rememberedUsername");</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    if (saved) {</a:t>
            </a:r>
          </a:p>
          <a:p>
            <a:pPr>
              <a:spcBef>
                <a:spcPts val="200"/>
              </a:spcBef>
              <a:spcAft>
                <a:spcPts val="200"/>
              </a:spcAft>
              <a:defRPr sz="1200">
                <a:solidFill>
                  <a:srgbClr val="E2E8F0"/>
                </a:solidFill>
                <a:latin typeface="Consolas"/>
              </a:defRPr>
            </a:pPr>
            <a:r>
              <a:t>        // Fill in the username</a:t>
            </a:r>
          </a:p>
          <a:p>
            <a:pPr>
              <a:spcBef>
                <a:spcPts val="200"/>
              </a:spcBef>
              <a:spcAft>
                <a:spcPts val="200"/>
              </a:spcAft>
              <a:defRPr sz="1200">
                <a:solidFill>
                  <a:srgbClr val="E2E8F0"/>
                </a:solidFill>
                <a:latin typeface="Consolas"/>
              </a:defRPr>
            </a:pPr>
            <a:r>
              <a:t>        usernameInput.value = saved;</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        // Trigger the float-up animation</a:t>
            </a:r>
          </a:p>
          <a:p>
            <a:pPr>
              <a:spcBef>
                <a:spcPts val="200"/>
              </a:spcBef>
              <a:spcAft>
                <a:spcPts val="200"/>
              </a:spcAft>
              <a:defRPr sz="1200">
                <a:solidFill>
                  <a:srgbClr val="E2E8F0"/>
                </a:solidFill>
                <a:latin typeface="Consolas"/>
              </a:defRPr>
            </a:pPr>
            <a:r>
              <a:t>        usernameInput.parentNode</a:t>
            </a:r>
          </a:p>
          <a:p>
            <a:pPr>
              <a:spcBef>
                <a:spcPts val="200"/>
              </a:spcBef>
              <a:spcAft>
                <a:spcPts val="200"/>
              </a:spcAft>
              <a:defRPr sz="1200">
                <a:solidFill>
                  <a:srgbClr val="E2E8F0"/>
                </a:solidFill>
                <a:latin typeface="Consolas"/>
              </a:defRPr>
            </a:pPr>
            <a:r>
              <a:t>            .parentNode</a:t>
            </a:r>
          </a:p>
          <a:p>
            <a:pPr>
              <a:spcBef>
                <a:spcPts val="200"/>
              </a:spcBef>
              <a:spcAft>
                <a:spcPts val="200"/>
              </a:spcAft>
              <a:defRPr sz="1200">
                <a:solidFill>
                  <a:srgbClr val="E2E8F0"/>
                </a:solidFill>
                <a:latin typeface="Consolas"/>
              </a:defRPr>
            </a:pPr>
            <a:r>
              <a:t>            .classList.add("focus");</a:t>
            </a:r>
          </a:p>
          <a:p>
            <a:pPr>
              <a:spcBef>
                <a:spcPts val="200"/>
              </a:spcBef>
              <a:spcAft>
                <a:spcPts val="200"/>
              </a:spcAft>
              <a:defRPr sz="1200">
                <a:solidFill>
                  <a:srgbClr val="E2E8F0"/>
                </a:solidFill>
                <a:latin typeface="Consolas"/>
              </a:defRPr>
            </a:pPr>
          </a:p>
          <a:p>
            <a:pPr>
              <a:spcBef>
                <a:spcPts val="200"/>
              </a:spcBef>
              <a:spcAft>
                <a:spcPts val="200"/>
              </a:spcAft>
              <a:defRPr sz="1200">
                <a:solidFill>
                  <a:srgbClr val="E2E8F0"/>
                </a:solidFill>
                <a:latin typeface="Consolas"/>
              </a:defRPr>
            </a:pPr>
            <a:r>
              <a:t>        // Re-check the checkbox</a:t>
            </a:r>
          </a:p>
          <a:p>
            <a:pPr>
              <a:spcBef>
                <a:spcPts val="200"/>
              </a:spcBef>
              <a:spcAft>
                <a:spcPts val="200"/>
              </a:spcAft>
              <a:defRPr sz="1200">
                <a:solidFill>
                  <a:srgbClr val="E2E8F0"/>
                </a:solidFill>
                <a:latin typeface="Consolas"/>
              </a:defRPr>
            </a:pPr>
            <a:r>
              <a:t>        rememberCheckbox.checked = true;</a:t>
            </a:r>
          </a:p>
          <a:p>
            <a:pPr>
              <a:spcBef>
                <a:spcPts val="200"/>
              </a:spcBef>
              <a:spcAft>
                <a:spcPts val="200"/>
              </a:spcAft>
              <a:defRPr sz="1200">
                <a:solidFill>
                  <a:srgbClr val="E2E8F0"/>
                </a:solidFill>
                <a:latin typeface="Consolas"/>
              </a:defRPr>
            </a:pPr>
            <a:r>
              <a:t>    }</a:t>
            </a:r>
          </a:p>
          <a:p>
            <a:pPr>
              <a:spcBef>
                <a:spcPts val="200"/>
              </a:spcBef>
              <a:spcAft>
                <a:spcPts val="200"/>
              </a:spcAft>
              <a:defRPr sz="1200">
                <a:solidFill>
                  <a:srgbClr val="E2E8F0"/>
                </a:solidFill>
                <a:latin typeface="Consolas"/>
              </a:defRPr>
            </a:pPr>
            <a:r>
              <a:t>});</a:t>
            </a:r>
          </a:p>
        </p:txBody>
      </p:sp>
      <p:sp>
        <p:nvSpPr>
          <p:cNvPr id="9" name="TextBox 8"/>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10" name="TextBox 9"/>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Before vs After</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Visual comparison of the login form</a:t>
            </a:r>
          </a:p>
        </p:txBody>
      </p:sp>
      <p:sp>
        <p:nvSpPr>
          <p:cNvPr id="5" name="TextBox 4"/>
          <p:cNvSpPr txBox="1"/>
          <p:nvPr/>
        </p:nvSpPr>
        <p:spPr>
          <a:xfrm>
            <a:off x="731520" y="1417320"/>
            <a:ext cx="5029200" cy="320040"/>
          </a:xfrm>
          <a:prstGeom prst="rect">
            <a:avLst/>
          </a:prstGeom>
          <a:noFill/>
        </p:spPr>
        <p:txBody>
          <a:bodyPr wrap="none">
            <a:spAutoFit/>
          </a:bodyPr>
          <a:lstStyle/>
          <a:p>
            <a:pPr>
              <a:defRPr sz="1400" b="1">
                <a:solidFill>
                  <a:srgbClr val="EF4444"/>
                </a:solidFill>
                <a:latin typeface="Calibri"/>
              </a:defRPr>
            </a:pPr>
            <a:r>
              <a:t>BEFORE  —  Original Form</a:t>
            </a:r>
          </a:p>
        </p:txBody>
      </p:sp>
      <p:sp>
        <p:nvSpPr>
          <p:cNvPr id="6" name="TextBox 5"/>
          <p:cNvSpPr txBox="1"/>
          <p:nvPr/>
        </p:nvSpPr>
        <p:spPr>
          <a:xfrm>
            <a:off x="914400" y="1828800"/>
            <a:ext cx="4572000" cy="2743200"/>
          </a:xfrm>
          <a:prstGeom prst="rect">
            <a:avLst/>
          </a:prstGeom>
          <a:noFill/>
        </p:spPr>
        <p:txBody>
          <a:bodyPr wrap="square">
            <a:spAutoFit/>
          </a:bodyPr>
          <a:lstStyle/>
          <a:p>
            <a:pPr>
              <a:spcAft>
                <a:spcPts val="1000"/>
              </a:spcAft>
              <a:defRPr sz="1500">
                <a:solidFill>
                  <a:srgbClr val="44445A"/>
                </a:solidFill>
                <a:latin typeface="Calibri"/>
              </a:defRPr>
            </a:pPr>
            <a:r>
              <a:t>  ✖  No Remember Me checkbox</a:t>
            </a:r>
          </a:p>
          <a:p>
            <a:pPr>
              <a:spcAft>
                <a:spcPts val="1000"/>
              </a:spcAft>
              <a:defRPr sz="1500">
                <a:solidFill>
                  <a:srgbClr val="44445A"/>
                </a:solidFill>
                <a:latin typeface="Calibri"/>
              </a:defRPr>
            </a:pPr>
            <a:r>
              <a:t>  ✖  Username lost on every page reload</a:t>
            </a:r>
          </a:p>
          <a:p>
            <a:pPr>
              <a:spcAft>
                <a:spcPts val="1000"/>
              </a:spcAft>
              <a:defRPr sz="1500">
                <a:solidFill>
                  <a:srgbClr val="44445A"/>
                </a:solidFill>
                <a:latin typeface="Calibri"/>
              </a:defRPr>
            </a:pPr>
            <a:r>
              <a:t>  ✖  Forgot Password link is standalone</a:t>
            </a:r>
          </a:p>
          <a:p>
            <a:pPr>
              <a:spcAft>
                <a:spcPts val="1000"/>
              </a:spcAft>
              <a:defRPr sz="1500">
                <a:solidFill>
                  <a:srgbClr val="44445A"/>
                </a:solidFill>
                <a:latin typeface="Calibri"/>
              </a:defRPr>
            </a:pPr>
            <a:r>
              <a:t>  ✖  No localStorage usage</a:t>
            </a:r>
          </a:p>
          <a:p>
            <a:pPr>
              <a:spcAft>
                <a:spcPts val="1000"/>
              </a:spcAft>
              <a:defRPr sz="1500">
                <a:solidFill>
                  <a:srgbClr val="44445A"/>
                </a:solidFill>
                <a:latin typeface="Calibri"/>
              </a:defRPr>
            </a:pPr>
            <a:r>
              <a:t>  ✖  User must re-type username every visit</a:t>
            </a:r>
          </a:p>
        </p:txBody>
      </p:sp>
      <p:sp>
        <p:nvSpPr>
          <p:cNvPr id="7" name="Rounded Rectangle 6"/>
          <p:cNvSpPr/>
          <p:nvPr/>
        </p:nvSpPr>
        <p:spPr>
          <a:xfrm>
            <a:off x="731520" y="4389120"/>
            <a:ext cx="5029200" cy="1463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&lt;!-- Original: just the link after password --&gt;</a:t>
            </a:r>
          </a:p>
          <a:p>
            <a:pPr>
              <a:spcBef>
                <a:spcPts val="200"/>
              </a:spcBef>
              <a:spcAft>
                <a:spcPts val="200"/>
              </a:spcAft>
              <a:defRPr sz="1200">
                <a:solidFill>
                  <a:srgbClr val="E2E8F0"/>
                </a:solidFill>
                <a:latin typeface="Consolas"/>
              </a:defRPr>
            </a:pPr>
            <a:r>
              <a:t>&lt;div class="input-div pass"&gt;...&lt;/div&gt;</a:t>
            </a:r>
          </a:p>
          <a:p>
            <a:pPr>
              <a:spcBef>
                <a:spcPts val="200"/>
              </a:spcBef>
              <a:spcAft>
                <a:spcPts val="200"/>
              </a:spcAft>
              <a:defRPr sz="1200">
                <a:solidFill>
                  <a:srgbClr val="E2E8F0"/>
                </a:solidFill>
                <a:latin typeface="Consolas"/>
              </a:defRPr>
            </a:pPr>
            <a:r>
              <a:t>&lt;a href="#"&gt;Forgot Password?&lt;/a&gt;</a:t>
            </a:r>
          </a:p>
          <a:p>
            <a:pPr>
              <a:spcBef>
                <a:spcPts val="200"/>
              </a:spcBef>
              <a:spcAft>
                <a:spcPts val="200"/>
              </a:spcAft>
              <a:defRPr sz="1200">
                <a:solidFill>
                  <a:srgbClr val="E2E8F0"/>
                </a:solidFill>
                <a:latin typeface="Consolas"/>
              </a:defRPr>
            </a:pPr>
            <a:r>
              <a:t>&lt;input type="submit" class="btn" value="Login"&gt;</a:t>
            </a:r>
          </a:p>
        </p:txBody>
      </p:sp>
      <p:sp>
        <p:nvSpPr>
          <p:cNvPr id="8" name="TextBox 7"/>
          <p:cNvSpPr txBox="1"/>
          <p:nvPr/>
        </p:nvSpPr>
        <p:spPr>
          <a:xfrm>
            <a:off x="6400800" y="1417320"/>
            <a:ext cx="5029200" cy="320040"/>
          </a:xfrm>
          <a:prstGeom prst="rect">
            <a:avLst/>
          </a:prstGeom>
          <a:noFill/>
        </p:spPr>
        <p:txBody>
          <a:bodyPr wrap="none">
            <a:spAutoFit/>
          </a:bodyPr>
          <a:lstStyle/>
          <a:p>
            <a:pPr>
              <a:defRPr sz="1400" b="1">
                <a:solidFill>
                  <a:srgbClr val="38D39F"/>
                </a:solidFill>
                <a:latin typeface="Calibri"/>
              </a:defRPr>
            </a:pPr>
            <a:r>
              <a:t>AFTER  —  With Remember Me</a:t>
            </a:r>
          </a:p>
        </p:txBody>
      </p:sp>
      <p:sp>
        <p:nvSpPr>
          <p:cNvPr id="9" name="TextBox 8"/>
          <p:cNvSpPr txBox="1"/>
          <p:nvPr/>
        </p:nvSpPr>
        <p:spPr>
          <a:xfrm>
            <a:off x="6583680" y="1828800"/>
            <a:ext cx="4572000" cy="2743200"/>
          </a:xfrm>
          <a:prstGeom prst="rect">
            <a:avLst/>
          </a:prstGeom>
          <a:noFill/>
        </p:spPr>
        <p:txBody>
          <a:bodyPr wrap="square">
            <a:spAutoFit/>
          </a:bodyPr>
          <a:lstStyle/>
          <a:p>
            <a:pPr>
              <a:spcAft>
                <a:spcPts val="1000"/>
              </a:spcAft>
              <a:defRPr sz="1500">
                <a:solidFill>
                  <a:srgbClr val="44445A"/>
                </a:solidFill>
                <a:latin typeface="Calibri"/>
              </a:defRPr>
            </a:pPr>
            <a:r>
              <a:t>  ✔  Remember Me checkbox added</a:t>
            </a:r>
          </a:p>
          <a:p>
            <a:pPr>
              <a:spcAft>
                <a:spcPts val="1000"/>
              </a:spcAft>
              <a:defRPr sz="1500">
                <a:solidFill>
                  <a:srgbClr val="44445A"/>
                </a:solidFill>
                <a:latin typeface="Calibri"/>
              </a:defRPr>
            </a:pPr>
            <a:r>
              <a:t>  ✔  Username persists via localStorage</a:t>
            </a:r>
          </a:p>
          <a:p>
            <a:pPr>
              <a:spcAft>
                <a:spcPts val="1000"/>
              </a:spcAft>
              <a:defRPr sz="1500">
                <a:solidFill>
                  <a:srgbClr val="44445A"/>
                </a:solidFill>
                <a:latin typeface="Calibri"/>
              </a:defRPr>
            </a:pPr>
            <a:r>
              <a:t>  ✔  Checkbox + link in one clean row</a:t>
            </a:r>
          </a:p>
          <a:p>
            <a:pPr>
              <a:spcAft>
                <a:spcPts val="1000"/>
              </a:spcAft>
              <a:defRPr sz="1500">
                <a:solidFill>
                  <a:srgbClr val="44445A"/>
                </a:solidFill>
                <a:latin typeface="Calibri"/>
              </a:defRPr>
            </a:pPr>
            <a:r>
              <a:t>  ✔  Auto-fill + animated label on reload</a:t>
            </a:r>
          </a:p>
          <a:p>
            <a:pPr>
              <a:spcAft>
                <a:spcPts val="1000"/>
              </a:spcAft>
              <a:defRPr sz="1500">
                <a:solidFill>
                  <a:srgbClr val="44445A"/>
                </a:solidFill>
                <a:latin typeface="Calibri"/>
              </a:defRPr>
            </a:pPr>
            <a:r>
              <a:t>  ✔  User experience greatly improved</a:t>
            </a:r>
          </a:p>
        </p:txBody>
      </p:sp>
      <p:sp>
        <p:nvSpPr>
          <p:cNvPr id="10" name="Rounded Rectangle 9"/>
          <p:cNvSpPr/>
          <p:nvPr/>
        </p:nvSpPr>
        <p:spPr>
          <a:xfrm>
            <a:off x="6400800" y="4389120"/>
            <a:ext cx="5303520" cy="1463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&lt;!-- New: checkbox + link in flex row --&gt;</a:t>
            </a:r>
          </a:p>
          <a:p>
            <a:pPr>
              <a:spcBef>
                <a:spcPts val="200"/>
              </a:spcBef>
              <a:spcAft>
                <a:spcPts val="200"/>
              </a:spcAft>
              <a:defRPr sz="1200">
                <a:solidFill>
                  <a:srgbClr val="E2E8F0"/>
                </a:solidFill>
                <a:latin typeface="Consolas"/>
              </a:defRPr>
            </a:pPr>
            <a:r>
              <a:t>&lt;div class="input-div pass"&gt;...&lt;/div&gt;</a:t>
            </a:r>
          </a:p>
          <a:p>
            <a:pPr>
              <a:spcBef>
                <a:spcPts val="200"/>
              </a:spcBef>
              <a:spcAft>
                <a:spcPts val="200"/>
              </a:spcAft>
              <a:defRPr sz="1200">
                <a:solidFill>
                  <a:srgbClr val="E2E8F0"/>
                </a:solidFill>
                <a:latin typeface="Consolas"/>
              </a:defRPr>
            </a:pPr>
            <a:r>
              <a:t>&lt;div class="remember-me"&gt;</a:t>
            </a:r>
          </a:p>
          <a:p>
            <a:pPr>
              <a:spcBef>
                <a:spcPts val="200"/>
              </a:spcBef>
              <a:spcAft>
                <a:spcPts val="200"/>
              </a:spcAft>
              <a:defRPr sz="1200">
                <a:solidFill>
                  <a:srgbClr val="E2E8F0"/>
                </a:solidFill>
                <a:latin typeface="Consolas"/>
              </a:defRPr>
            </a:pPr>
            <a:r>
              <a:t>    &lt;label&gt;</a:t>
            </a:r>
          </a:p>
          <a:p>
            <a:pPr>
              <a:spcBef>
                <a:spcPts val="200"/>
              </a:spcBef>
              <a:spcAft>
                <a:spcPts val="200"/>
              </a:spcAft>
              <a:defRPr sz="1200">
                <a:solidFill>
                  <a:srgbClr val="E2E8F0"/>
                </a:solidFill>
                <a:latin typeface="Consolas"/>
              </a:defRPr>
            </a:pPr>
            <a:r>
              <a:t>        &lt;input type="checkbox" id="remember"&gt;</a:t>
            </a:r>
          </a:p>
          <a:p>
            <a:pPr>
              <a:spcBef>
                <a:spcPts val="200"/>
              </a:spcBef>
              <a:spcAft>
                <a:spcPts val="200"/>
              </a:spcAft>
              <a:defRPr sz="1200">
                <a:solidFill>
                  <a:srgbClr val="E2E8F0"/>
                </a:solidFill>
                <a:latin typeface="Consolas"/>
              </a:defRPr>
            </a:pPr>
            <a:r>
              <a:t>        &lt;span&gt;Remember Me&lt;/span&gt;</a:t>
            </a:r>
          </a:p>
          <a:p>
            <a:pPr>
              <a:spcBef>
                <a:spcPts val="200"/>
              </a:spcBef>
              <a:spcAft>
                <a:spcPts val="200"/>
              </a:spcAft>
              <a:defRPr sz="1200">
                <a:solidFill>
                  <a:srgbClr val="E2E8F0"/>
                </a:solidFill>
                <a:latin typeface="Consolas"/>
              </a:defRPr>
            </a:pPr>
            <a:r>
              <a:t>    &lt;/label&gt;</a:t>
            </a:r>
          </a:p>
          <a:p>
            <a:pPr>
              <a:spcBef>
                <a:spcPts val="200"/>
              </a:spcBef>
              <a:spcAft>
                <a:spcPts val="200"/>
              </a:spcAft>
              <a:defRPr sz="1200">
                <a:solidFill>
                  <a:srgbClr val="E2E8F0"/>
                </a:solidFill>
                <a:latin typeface="Consolas"/>
              </a:defRPr>
            </a:pPr>
            <a:r>
              <a:t>    &lt;a href="#"&gt;Forgot Password?&lt;/a&gt;</a:t>
            </a:r>
          </a:p>
          <a:p>
            <a:pPr>
              <a:spcBef>
                <a:spcPts val="200"/>
              </a:spcBef>
              <a:spcAft>
                <a:spcPts val="200"/>
              </a:spcAft>
              <a:defRPr sz="1200">
                <a:solidFill>
                  <a:srgbClr val="E2E8F0"/>
                </a:solidFill>
                <a:latin typeface="Consolas"/>
              </a:defRPr>
            </a:pPr>
            <a:r>
              <a:t>&lt;/div&gt;</a:t>
            </a:r>
          </a:p>
          <a:p>
            <a:pPr>
              <a:spcBef>
                <a:spcPts val="200"/>
              </a:spcBef>
              <a:spcAft>
                <a:spcPts val="200"/>
              </a:spcAft>
              <a:defRPr sz="1200">
                <a:solidFill>
                  <a:srgbClr val="E2E8F0"/>
                </a:solidFill>
                <a:latin typeface="Consolas"/>
              </a:defRPr>
            </a:pPr>
            <a:r>
              <a:t>&lt;input type="submit" class="btn" value="Login"&gt;</a:t>
            </a:r>
          </a:p>
        </p:txBody>
      </p:sp>
      <p:sp>
        <p:nvSpPr>
          <p:cNvPr id="11" name="Rectangle 10"/>
          <p:cNvSpPr/>
          <p:nvPr/>
        </p:nvSpPr>
        <p:spPr>
          <a:xfrm>
            <a:off x="5943600" y="1554480"/>
            <a:ext cx="27432" cy="45720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13" name="TextBox 12"/>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Benefits of Using Cursor Cloud Agent</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Why this workflow is a game-changer for developers</a:t>
            </a:r>
          </a:p>
        </p:txBody>
      </p:sp>
      <p:sp>
        <p:nvSpPr>
          <p:cNvPr id="5" name="Rounded Rectangle 4"/>
          <p:cNvSpPr/>
          <p:nvPr/>
        </p:nvSpPr>
        <p:spPr>
          <a:xfrm>
            <a:off x="731520" y="1463040"/>
            <a:ext cx="51206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4864" cy="1280160"/>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572768"/>
            <a:ext cx="4800600" cy="320040"/>
          </a:xfrm>
          <a:prstGeom prst="rect">
            <a:avLst/>
          </a:prstGeom>
          <a:noFill/>
        </p:spPr>
        <p:txBody>
          <a:bodyPr wrap="none">
            <a:spAutoFit/>
          </a:bodyPr>
          <a:lstStyle/>
          <a:p>
            <a:pPr>
              <a:defRPr sz="1400" b="1">
                <a:solidFill>
                  <a:srgbClr val="1A1A2E"/>
                </a:solidFill>
                <a:latin typeface="Calibri"/>
              </a:defRPr>
            </a:pPr>
            <a:r>
              <a:t>⏱️  Saves Time</a:t>
            </a:r>
          </a:p>
        </p:txBody>
      </p:sp>
      <p:sp>
        <p:nvSpPr>
          <p:cNvPr id="8" name="TextBox 7"/>
          <p:cNvSpPr txBox="1"/>
          <p:nvPr/>
        </p:nvSpPr>
        <p:spPr>
          <a:xfrm>
            <a:off x="932688" y="1901952"/>
            <a:ext cx="4800600" cy="777240"/>
          </a:xfrm>
          <a:prstGeom prst="rect">
            <a:avLst/>
          </a:prstGeom>
          <a:noFill/>
        </p:spPr>
        <p:txBody>
          <a:bodyPr wrap="square">
            <a:spAutoFit/>
          </a:bodyPr>
          <a:lstStyle/>
          <a:p>
            <a:pPr>
              <a:spcAft>
                <a:spcPts val="300"/>
              </a:spcAft>
              <a:defRPr sz="1200">
                <a:solidFill>
                  <a:srgbClr val="666672"/>
                </a:solidFill>
                <a:latin typeface="Calibri"/>
              </a:defRPr>
            </a:pPr>
            <a:r>
              <a:t>What takes 30–60 minutes manually was</a:t>
            </a:r>
          </a:p>
          <a:p>
            <a:pPr>
              <a:spcAft>
                <a:spcPts val="300"/>
              </a:spcAft>
              <a:defRPr sz="1200">
                <a:solidFill>
                  <a:srgbClr val="666672"/>
                </a:solidFill>
                <a:latin typeface="Calibri"/>
              </a:defRPr>
            </a:pPr>
            <a:r>
              <a:t>completed in under 5 minutes by the agent.</a:t>
            </a:r>
          </a:p>
        </p:txBody>
      </p:sp>
      <p:sp>
        <p:nvSpPr>
          <p:cNvPr id="9" name="Rounded Rectangle 8"/>
          <p:cNvSpPr/>
          <p:nvPr/>
        </p:nvSpPr>
        <p:spPr>
          <a:xfrm>
            <a:off x="6309360" y="1463040"/>
            <a:ext cx="51206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463040"/>
            <a:ext cx="54864" cy="12801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1572768"/>
            <a:ext cx="4800600" cy="320040"/>
          </a:xfrm>
          <a:prstGeom prst="rect">
            <a:avLst/>
          </a:prstGeom>
          <a:noFill/>
        </p:spPr>
        <p:txBody>
          <a:bodyPr wrap="none">
            <a:spAutoFit/>
          </a:bodyPr>
          <a:lstStyle/>
          <a:p>
            <a:pPr>
              <a:defRPr sz="1400" b="1">
                <a:solidFill>
                  <a:srgbClr val="1A1A2E"/>
                </a:solidFill>
                <a:latin typeface="Calibri"/>
              </a:defRPr>
            </a:pPr>
            <a:r>
              <a:t>🔧  Reduces Manual Work</a:t>
            </a:r>
          </a:p>
        </p:txBody>
      </p:sp>
      <p:sp>
        <p:nvSpPr>
          <p:cNvPr id="12" name="TextBox 11"/>
          <p:cNvSpPr txBox="1"/>
          <p:nvPr/>
        </p:nvSpPr>
        <p:spPr>
          <a:xfrm>
            <a:off x="6510528" y="1901952"/>
            <a:ext cx="4800600" cy="777240"/>
          </a:xfrm>
          <a:prstGeom prst="rect">
            <a:avLst/>
          </a:prstGeom>
          <a:noFill/>
        </p:spPr>
        <p:txBody>
          <a:bodyPr wrap="square">
            <a:spAutoFit/>
          </a:bodyPr>
          <a:lstStyle/>
          <a:p>
            <a:pPr>
              <a:spcAft>
                <a:spcPts val="300"/>
              </a:spcAft>
              <a:defRPr sz="1200">
                <a:solidFill>
                  <a:srgbClr val="666672"/>
                </a:solidFill>
                <a:latin typeface="Calibri"/>
              </a:defRPr>
            </a:pPr>
            <a:r>
              <a:t>No need to manually create branches, write</a:t>
            </a:r>
          </a:p>
          <a:p>
            <a:pPr>
              <a:spcAft>
                <a:spcPts val="300"/>
              </a:spcAft>
              <a:defRPr sz="1200">
                <a:solidFill>
                  <a:srgbClr val="666672"/>
                </a:solidFill>
                <a:latin typeface="Calibri"/>
              </a:defRPr>
            </a:pPr>
            <a:r>
              <a:t>boilerplate, or remember git commands.</a:t>
            </a:r>
          </a:p>
        </p:txBody>
      </p:sp>
      <p:sp>
        <p:nvSpPr>
          <p:cNvPr id="13" name="Rounded Rectangle 12"/>
          <p:cNvSpPr/>
          <p:nvPr/>
        </p:nvSpPr>
        <p:spPr>
          <a:xfrm>
            <a:off x="731520" y="3108960"/>
            <a:ext cx="51206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108960"/>
            <a:ext cx="54864" cy="12801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218688"/>
            <a:ext cx="4800600" cy="320040"/>
          </a:xfrm>
          <a:prstGeom prst="rect">
            <a:avLst/>
          </a:prstGeom>
          <a:noFill/>
        </p:spPr>
        <p:txBody>
          <a:bodyPr wrap="none">
            <a:spAutoFit/>
          </a:bodyPr>
          <a:lstStyle/>
          <a:p>
            <a:pPr>
              <a:defRPr sz="1400" b="1">
                <a:solidFill>
                  <a:srgbClr val="1A1A2E"/>
                </a:solidFill>
                <a:latin typeface="Calibri"/>
              </a:defRPr>
            </a:pPr>
            <a:r>
              <a:t>🏗️  Maintains Structure</a:t>
            </a:r>
          </a:p>
        </p:txBody>
      </p:sp>
      <p:sp>
        <p:nvSpPr>
          <p:cNvPr id="16" name="TextBox 15"/>
          <p:cNvSpPr txBox="1"/>
          <p:nvPr/>
        </p:nvSpPr>
        <p:spPr>
          <a:xfrm>
            <a:off x="932688" y="3547872"/>
            <a:ext cx="4800600" cy="777240"/>
          </a:xfrm>
          <a:prstGeom prst="rect">
            <a:avLst/>
          </a:prstGeom>
          <a:noFill/>
        </p:spPr>
        <p:txBody>
          <a:bodyPr wrap="square">
            <a:spAutoFit/>
          </a:bodyPr>
          <a:lstStyle/>
          <a:p>
            <a:pPr>
              <a:spcAft>
                <a:spcPts val="300"/>
              </a:spcAft>
              <a:defRPr sz="1200">
                <a:solidFill>
                  <a:srgbClr val="666672"/>
                </a:solidFill>
                <a:latin typeface="Calibri"/>
              </a:defRPr>
            </a:pPr>
            <a:r>
              <a:t>The agent follows existing code patterns,</a:t>
            </a:r>
          </a:p>
          <a:p>
            <a:pPr>
              <a:spcAft>
                <a:spcPts val="300"/>
              </a:spcAft>
              <a:defRPr sz="1200">
                <a:solidFill>
                  <a:srgbClr val="666672"/>
                </a:solidFill>
                <a:latin typeface="Calibri"/>
              </a:defRPr>
            </a:pPr>
            <a:r>
              <a:t>naming conventions, and project style.</a:t>
            </a:r>
          </a:p>
        </p:txBody>
      </p:sp>
      <p:sp>
        <p:nvSpPr>
          <p:cNvPr id="17" name="Rounded Rectangle 16"/>
          <p:cNvSpPr/>
          <p:nvPr/>
        </p:nvSpPr>
        <p:spPr>
          <a:xfrm>
            <a:off x="6309360" y="3108960"/>
            <a:ext cx="51206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3108960"/>
            <a:ext cx="54864" cy="12801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3218688"/>
            <a:ext cx="4800600" cy="320040"/>
          </a:xfrm>
          <a:prstGeom prst="rect">
            <a:avLst/>
          </a:prstGeom>
          <a:noFill/>
        </p:spPr>
        <p:txBody>
          <a:bodyPr wrap="none">
            <a:spAutoFit/>
          </a:bodyPr>
          <a:lstStyle/>
          <a:p>
            <a:pPr>
              <a:defRPr sz="1400" b="1">
                <a:solidFill>
                  <a:srgbClr val="1A1A2E"/>
                </a:solidFill>
                <a:latin typeface="Calibri"/>
              </a:defRPr>
            </a:pPr>
            <a:r>
              <a:t>🧑‍💻  Works Like a Junior Dev</a:t>
            </a:r>
          </a:p>
        </p:txBody>
      </p:sp>
      <p:sp>
        <p:nvSpPr>
          <p:cNvPr id="20" name="TextBox 19"/>
          <p:cNvSpPr txBox="1"/>
          <p:nvPr/>
        </p:nvSpPr>
        <p:spPr>
          <a:xfrm>
            <a:off x="6510528" y="3547872"/>
            <a:ext cx="4800600" cy="777240"/>
          </a:xfrm>
          <a:prstGeom prst="rect">
            <a:avLst/>
          </a:prstGeom>
          <a:noFill/>
        </p:spPr>
        <p:txBody>
          <a:bodyPr wrap="square">
            <a:spAutoFit/>
          </a:bodyPr>
          <a:lstStyle/>
          <a:p>
            <a:pPr>
              <a:spcAft>
                <a:spcPts val="300"/>
              </a:spcAft>
              <a:defRPr sz="1200">
                <a:solidFill>
                  <a:srgbClr val="666672"/>
                </a:solidFill>
                <a:latin typeface="Calibri"/>
              </a:defRPr>
            </a:pPr>
            <a:r>
              <a:t>Give it clear instructions and it executes</a:t>
            </a:r>
          </a:p>
          <a:p>
            <a:pPr>
              <a:spcAft>
                <a:spcPts val="300"/>
              </a:spcAft>
              <a:defRPr sz="1200">
                <a:solidFill>
                  <a:srgbClr val="666672"/>
                </a:solidFill>
                <a:latin typeface="Calibri"/>
              </a:defRPr>
            </a:pPr>
            <a:r>
              <a:t>step by step. Perfect for routine tasks.</a:t>
            </a:r>
          </a:p>
        </p:txBody>
      </p:sp>
      <p:sp>
        <p:nvSpPr>
          <p:cNvPr id="21" name="Rounded Rectangle 20"/>
          <p:cNvSpPr/>
          <p:nvPr/>
        </p:nvSpPr>
        <p:spPr>
          <a:xfrm>
            <a:off x="731520" y="4754880"/>
            <a:ext cx="51206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754880"/>
            <a:ext cx="54864" cy="1280160"/>
          </a:xfrm>
          <a:prstGeom prst="rect">
            <a:avLst/>
          </a:prstGeom>
          <a:solidFill>
            <a:srgbClr val="2AA8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864608"/>
            <a:ext cx="4800600" cy="320040"/>
          </a:xfrm>
          <a:prstGeom prst="rect">
            <a:avLst/>
          </a:prstGeom>
          <a:noFill/>
        </p:spPr>
        <p:txBody>
          <a:bodyPr wrap="none">
            <a:spAutoFit/>
          </a:bodyPr>
          <a:lstStyle/>
          <a:p>
            <a:pPr>
              <a:defRPr sz="1400" b="1">
                <a:solidFill>
                  <a:srgbClr val="1A1A2E"/>
                </a:solidFill>
                <a:latin typeface="Calibri"/>
              </a:defRPr>
            </a:pPr>
            <a:r>
              <a:t>🔍  Tests Its Own Work</a:t>
            </a:r>
          </a:p>
        </p:txBody>
      </p:sp>
      <p:sp>
        <p:nvSpPr>
          <p:cNvPr id="24" name="TextBox 23"/>
          <p:cNvSpPr txBox="1"/>
          <p:nvPr/>
        </p:nvSpPr>
        <p:spPr>
          <a:xfrm>
            <a:off x="932688" y="5193792"/>
            <a:ext cx="4800600" cy="777240"/>
          </a:xfrm>
          <a:prstGeom prst="rect">
            <a:avLst/>
          </a:prstGeom>
          <a:noFill/>
        </p:spPr>
        <p:txBody>
          <a:bodyPr wrap="square">
            <a:spAutoFit/>
          </a:bodyPr>
          <a:lstStyle/>
          <a:p>
            <a:pPr>
              <a:spcAft>
                <a:spcPts val="300"/>
              </a:spcAft>
              <a:defRPr sz="1200">
                <a:solidFill>
                  <a:srgbClr val="666672"/>
                </a:solidFill>
                <a:latin typeface="Calibri"/>
              </a:defRPr>
            </a:pPr>
            <a:r>
              <a:t>Opens a browser, interacts with the UI,</a:t>
            </a:r>
          </a:p>
          <a:p>
            <a:pPr>
              <a:spcAft>
                <a:spcPts val="300"/>
              </a:spcAft>
              <a:defRPr sz="1200">
                <a:solidFill>
                  <a:srgbClr val="666672"/>
                </a:solidFill>
                <a:latin typeface="Calibri"/>
              </a:defRPr>
            </a:pPr>
            <a:r>
              <a:t>and takes screenshots to verify the result.</a:t>
            </a:r>
          </a:p>
        </p:txBody>
      </p:sp>
      <p:sp>
        <p:nvSpPr>
          <p:cNvPr id="25" name="Rounded Rectangle 24"/>
          <p:cNvSpPr/>
          <p:nvPr/>
        </p:nvSpPr>
        <p:spPr>
          <a:xfrm>
            <a:off x="6309360" y="4754880"/>
            <a:ext cx="51206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0" y="4754880"/>
            <a:ext cx="54864" cy="128016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4864608"/>
            <a:ext cx="4800600" cy="320040"/>
          </a:xfrm>
          <a:prstGeom prst="rect">
            <a:avLst/>
          </a:prstGeom>
          <a:noFill/>
        </p:spPr>
        <p:txBody>
          <a:bodyPr wrap="none">
            <a:spAutoFit/>
          </a:bodyPr>
          <a:lstStyle/>
          <a:p>
            <a:pPr>
              <a:defRPr sz="1400" b="1">
                <a:solidFill>
                  <a:srgbClr val="1A1A2E"/>
                </a:solidFill>
                <a:latin typeface="Calibri"/>
              </a:defRPr>
            </a:pPr>
            <a:r>
              <a:t>📝  Writes Good Commit Messages</a:t>
            </a:r>
          </a:p>
        </p:txBody>
      </p:sp>
      <p:sp>
        <p:nvSpPr>
          <p:cNvPr id="28" name="TextBox 27"/>
          <p:cNvSpPr txBox="1"/>
          <p:nvPr/>
        </p:nvSpPr>
        <p:spPr>
          <a:xfrm>
            <a:off x="6510528" y="5193792"/>
            <a:ext cx="4800600" cy="777240"/>
          </a:xfrm>
          <a:prstGeom prst="rect">
            <a:avLst/>
          </a:prstGeom>
          <a:noFill/>
        </p:spPr>
        <p:txBody>
          <a:bodyPr wrap="square">
            <a:spAutoFit/>
          </a:bodyPr>
          <a:lstStyle/>
          <a:p>
            <a:pPr>
              <a:spcAft>
                <a:spcPts val="300"/>
              </a:spcAft>
              <a:defRPr sz="1200">
                <a:solidFill>
                  <a:srgbClr val="666672"/>
                </a:solidFill>
                <a:latin typeface="Calibri"/>
              </a:defRPr>
            </a:pPr>
            <a:r>
              <a:t>Uses conventional commit format (feat:, fix:)</a:t>
            </a:r>
          </a:p>
          <a:p>
            <a:pPr>
              <a:spcAft>
                <a:spcPts val="300"/>
              </a:spcAft>
              <a:defRPr sz="1200">
                <a:solidFill>
                  <a:srgbClr val="666672"/>
                </a:solidFill>
                <a:latin typeface="Calibri"/>
              </a:defRPr>
            </a:pPr>
            <a:r>
              <a:t>with descriptive body text automatically.</a:t>
            </a:r>
          </a:p>
        </p:txBody>
      </p:sp>
      <p:sp>
        <p:nvSpPr>
          <p:cNvPr id="29" name="TextBox 28"/>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30" name="TextBox 29"/>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Where It Helps Most</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Best use cases for the Cursor Cloud Agent in your daily workflow</a:t>
            </a:r>
          </a:p>
        </p:txBody>
      </p:sp>
      <p:sp>
        <p:nvSpPr>
          <p:cNvPr id="5" name="Rounded Rectangle 4"/>
          <p:cNvSpPr/>
          <p:nvPr/>
        </p:nvSpPr>
        <p:spPr>
          <a:xfrm>
            <a:off x="548640" y="1554480"/>
            <a:ext cx="34747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691640"/>
            <a:ext cx="457200" cy="457200"/>
          </a:xfrm>
          <a:prstGeom prst="rect">
            <a:avLst/>
          </a:prstGeom>
          <a:noFill/>
        </p:spPr>
        <p:txBody>
          <a:bodyPr wrap="none">
            <a:spAutoFit/>
          </a:bodyPr>
          <a:lstStyle/>
          <a:p>
            <a:pPr>
              <a:defRPr sz="2600"/>
            </a:pPr>
            <a:r>
              <a:t>🚀</a:t>
            </a:r>
          </a:p>
        </p:txBody>
      </p:sp>
      <p:sp>
        <p:nvSpPr>
          <p:cNvPr id="7" name="TextBox 6"/>
          <p:cNvSpPr txBox="1"/>
          <p:nvPr/>
        </p:nvSpPr>
        <p:spPr>
          <a:xfrm>
            <a:off x="1143000" y="1737360"/>
            <a:ext cx="2743200" cy="320040"/>
          </a:xfrm>
          <a:prstGeom prst="rect">
            <a:avLst/>
          </a:prstGeom>
          <a:noFill/>
        </p:spPr>
        <p:txBody>
          <a:bodyPr wrap="none">
            <a:spAutoFit/>
          </a:bodyPr>
          <a:lstStyle/>
          <a:p>
            <a:pPr>
              <a:defRPr sz="1600" b="1">
                <a:solidFill>
                  <a:srgbClr val="1A1A2E"/>
                </a:solidFill>
                <a:latin typeface="Calibri"/>
              </a:defRPr>
            </a:pPr>
            <a:r>
              <a:t>Feature Implementation</a:t>
            </a:r>
          </a:p>
        </p:txBody>
      </p:sp>
      <p:sp>
        <p:nvSpPr>
          <p:cNvPr id="8" name="TextBox 7"/>
          <p:cNvSpPr txBox="1"/>
          <p:nvPr/>
        </p:nvSpPr>
        <p:spPr>
          <a:xfrm>
            <a:off x="731520" y="2194560"/>
            <a:ext cx="3108960" cy="914400"/>
          </a:xfrm>
          <a:prstGeom prst="rect">
            <a:avLst/>
          </a:prstGeom>
          <a:noFill/>
        </p:spPr>
        <p:txBody>
          <a:bodyPr wrap="square">
            <a:spAutoFit/>
          </a:bodyPr>
          <a:lstStyle/>
          <a:p>
            <a:pPr>
              <a:defRPr sz="1300">
                <a:solidFill>
                  <a:srgbClr val="666672"/>
                </a:solidFill>
                <a:latin typeface="Calibri"/>
              </a:defRPr>
            </a:pPr>
            <a:r>
              <a:t>Add new UI components, form fields,</a:t>
            </a:r>
            <a:br/>
            <a:r>
              <a:t>interactive elements, API integrations</a:t>
            </a:r>
          </a:p>
        </p:txBody>
      </p:sp>
      <p:sp>
        <p:nvSpPr>
          <p:cNvPr id="9" name="Rounded Rectangle 8"/>
          <p:cNvSpPr/>
          <p:nvPr/>
        </p:nvSpPr>
        <p:spPr>
          <a:xfrm>
            <a:off x="4297679" y="1554480"/>
            <a:ext cx="34747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39" y="1691640"/>
            <a:ext cx="457200" cy="457200"/>
          </a:xfrm>
          <a:prstGeom prst="rect">
            <a:avLst/>
          </a:prstGeom>
          <a:noFill/>
        </p:spPr>
        <p:txBody>
          <a:bodyPr wrap="none">
            <a:spAutoFit/>
          </a:bodyPr>
          <a:lstStyle/>
          <a:p>
            <a:pPr>
              <a:defRPr sz="2600"/>
            </a:pPr>
            <a:r>
              <a:t>♻️</a:t>
            </a:r>
          </a:p>
        </p:txBody>
      </p:sp>
      <p:sp>
        <p:nvSpPr>
          <p:cNvPr id="11" name="TextBox 10"/>
          <p:cNvSpPr txBox="1"/>
          <p:nvPr/>
        </p:nvSpPr>
        <p:spPr>
          <a:xfrm>
            <a:off x="4892039" y="1737360"/>
            <a:ext cx="2743200" cy="320040"/>
          </a:xfrm>
          <a:prstGeom prst="rect">
            <a:avLst/>
          </a:prstGeom>
          <a:noFill/>
        </p:spPr>
        <p:txBody>
          <a:bodyPr wrap="none">
            <a:spAutoFit/>
          </a:bodyPr>
          <a:lstStyle/>
          <a:p>
            <a:pPr>
              <a:defRPr sz="1600" b="1">
                <a:solidFill>
                  <a:srgbClr val="1A1A2E"/>
                </a:solidFill>
                <a:latin typeface="Calibri"/>
              </a:defRPr>
            </a:pPr>
            <a:r>
              <a:t>Refactoring</a:t>
            </a:r>
          </a:p>
        </p:txBody>
      </p:sp>
      <p:sp>
        <p:nvSpPr>
          <p:cNvPr id="12" name="TextBox 11"/>
          <p:cNvSpPr txBox="1"/>
          <p:nvPr/>
        </p:nvSpPr>
        <p:spPr>
          <a:xfrm>
            <a:off x="4480559" y="2194560"/>
            <a:ext cx="3108960" cy="914400"/>
          </a:xfrm>
          <a:prstGeom prst="rect">
            <a:avLst/>
          </a:prstGeom>
          <a:noFill/>
        </p:spPr>
        <p:txBody>
          <a:bodyPr wrap="square">
            <a:spAutoFit/>
          </a:bodyPr>
          <a:lstStyle/>
          <a:p>
            <a:pPr>
              <a:defRPr sz="1300">
                <a:solidFill>
                  <a:srgbClr val="666672"/>
                </a:solidFill>
                <a:latin typeface="Calibri"/>
              </a:defRPr>
            </a:pPr>
            <a:r>
              <a:t>Rename variables across files, restructure</a:t>
            </a:r>
            <a:br/>
            <a:r>
              <a:t>CSS, clean up redundant code</a:t>
            </a:r>
          </a:p>
        </p:txBody>
      </p:sp>
      <p:sp>
        <p:nvSpPr>
          <p:cNvPr id="13" name="Rounded Rectangle 12"/>
          <p:cNvSpPr/>
          <p:nvPr/>
        </p:nvSpPr>
        <p:spPr>
          <a:xfrm>
            <a:off x="8046719" y="1554480"/>
            <a:ext cx="34747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83879" y="1691640"/>
            <a:ext cx="457200" cy="457200"/>
          </a:xfrm>
          <a:prstGeom prst="rect">
            <a:avLst/>
          </a:prstGeom>
          <a:noFill/>
        </p:spPr>
        <p:txBody>
          <a:bodyPr wrap="none">
            <a:spAutoFit/>
          </a:bodyPr>
          <a:lstStyle/>
          <a:p>
            <a:pPr>
              <a:defRPr sz="2600"/>
            </a:pPr>
            <a:r>
              <a:t>🧪</a:t>
            </a:r>
          </a:p>
        </p:txBody>
      </p:sp>
      <p:sp>
        <p:nvSpPr>
          <p:cNvPr id="15" name="TextBox 14"/>
          <p:cNvSpPr txBox="1"/>
          <p:nvPr/>
        </p:nvSpPr>
        <p:spPr>
          <a:xfrm>
            <a:off x="8641079" y="1737360"/>
            <a:ext cx="2743200" cy="320040"/>
          </a:xfrm>
          <a:prstGeom prst="rect">
            <a:avLst/>
          </a:prstGeom>
          <a:noFill/>
        </p:spPr>
        <p:txBody>
          <a:bodyPr wrap="none">
            <a:spAutoFit/>
          </a:bodyPr>
          <a:lstStyle/>
          <a:p>
            <a:pPr>
              <a:defRPr sz="1600" b="1">
                <a:solidFill>
                  <a:srgbClr val="1A1A2E"/>
                </a:solidFill>
                <a:latin typeface="Calibri"/>
              </a:defRPr>
            </a:pPr>
            <a:r>
              <a:t>Writing Test Cases</a:t>
            </a:r>
          </a:p>
        </p:txBody>
      </p:sp>
      <p:sp>
        <p:nvSpPr>
          <p:cNvPr id="16" name="TextBox 15"/>
          <p:cNvSpPr txBox="1"/>
          <p:nvPr/>
        </p:nvSpPr>
        <p:spPr>
          <a:xfrm>
            <a:off x="8229599" y="2194560"/>
            <a:ext cx="3108960" cy="914400"/>
          </a:xfrm>
          <a:prstGeom prst="rect">
            <a:avLst/>
          </a:prstGeom>
          <a:noFill/>
        </p:spPr>
        <p:txBody>
          <a:bodyPr wrap="square">
            <a:spAutoFit/>
          </a:bodyPr>
          <a:lstStyle/>
          <a:p>
            <a:pPr>
              <a:defRPr sz="1300">
                <a:solidFill>
                  <a:srgbClr val="666672"/>
                </a:solidFill>
                <a:latin typeface="Calibri"/>
              </a:defRPr>
            </a:pPr>
            <a:r>
              <a:t>Generate unit tests, integration tests,</a:t>
            </a:r>
            <a:br/>
            <a:r>
              <a:t>and edge-case scenarios</a:t>
            </a:r>
          </a:p>
        </p:txBody>
      </p:sp>
      <p:sp>
        <p:nvSpPr>
          <p:cNvPr id="17" name="Rounded Rectangle 16"/>
          <p:cNvSpPr/>
          <p:nvPr/>
        </p:nvSpPr>
        <p:spPr>
          <a:xfrm>
            <a:off x="548640" y="3840480"/>
            <a:ext cx="34747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77640"/>
            <a:ext cx="457200" cy="457200"/>
          </a:xfrm>
          <a:prstGeom prst="rect">
            <a:avLst/>
          </a:prstGeom>
          <a:noFill/>
        </p:spPr>
        <p:txBody>
          <a:bodyPr wrap="none">
            <a:spAutoFit/>
          </a:bodyPr>
          <a:lstStyle/>
          <a:p>
            <a:pPr>
              <a:defRPr sz="2600"/>
            </a:pPr>
            <a:r>
              <a:t>🔀</a:t>
            </a:r>
          </a:p>
        </p:txBody>
      </p:sp>
      <p:sp>
        <p:nvSpPr>
          <p:cNvPr id="19" name="TextBox 18"/>
          <p:cNvSpPr txBox="1"/>
          <p:nvPr/>
        </p:nvSpPr>
        <p:spPr>
          <a:xfrm>
            <a:off x="1143000" y="4023360"/>
            <a:ext cx="2743200" cy="320040"/>
          </a:xfrm>
          <a:prstGeom prst="rect">
            <a:avLst/>
          </a:prstGeom>
          <a:noFill/>
        </p:spPr>
        <p:txBody>
          <a:bodyPr wrap="none">
            <a:spAutoFit/>
          </a:bodyPr>
          <a:lstStyle/>
          <a:p>
            <a:pPr>
              <a:defRPr sz="1600" b="1">
                <a:solidFill>
                  <a:srgbClr val="1A1A2E"/>
                </a:solidFill>
                <a:latin typeface="Calibri"/>
              </a:defRPr>
            </a:pPr>
            <a:r>
              <a:t>Creating Branches</a:t>
            </a:r>
          </a:p>
        </p:txBody>
      </p:sp>
      <p:sp>
        <p:nvSpPr>
          <p:cNvPr id="20" name="TextBox 19"/>
          <p:cNvSpPr txBox="1"/>
          <p:nvPr/>
        </p:nvSpPr>
        <p:spPr>
          <a:xfrm>
            <a:off x="731520" y="4480560"/>
            <a:ext cx="3108960" cy="914400"/>
          </a:xfrm>
          <a:prstGeom prst="rect">
            <a:avLst/>
          </a:prstGeom>
          <a:noFill/>
        </p:spPr>
        <p:txBody>
          <a:bodyPr wrap="square">
            <a:spAutoFit/>
          </a:bodyPr>
          <a:lstStyle/>
          <a:p>
            <a:pPr>
              <a:defRPr sz="1300">
                <a:solidFill>
                  <a:srgbClr val="666672"/>
                </a:solidFill>
                <a:latin typeface="Calibri"/>
              </a:defRPr>
            </a:pPr>
            <a:r>
              <a:t>Set up feature branches with proper naming</a:t>
            </a:r>
            <a:br/>
            <a:r>
              <a:t>following team conventions</a:t>
            </a:r>
          </a:p>
        </p:txBody>
      </p:sp>
      <p:sp>
        <p:nvSpPr>
          <p:cNvPr id="21" name="Rounded Rectangle 20"/>
          <p:cNvSpPr/>
          <p:nvPr/>
        </p:nvSpPr>
        <p:spPr>
          <a:xfrm>
            <a:off x="4297679" y="3840480"/>
            <a:ext cx="34747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39" y="3977640"/>
            <a:ext cx="457200" cy="457200"/>
          </a:xfrm>
          <a:prstGeom prst="rect">
            <a:avLst/>
          </a:prstGeom>
          <a:noFill/>
        </p:spPr>
        <p:txBody>
          <a:bodyPr wrap="none">
            <a:spAutoFit/>
          </a:bodyPr>
          <a:lstStyle/>
          <a:p>
            <a:pPr>
              <a:defRPr sz="2600"/>
            </a:pPr>
            <a:r>
              <a:t>📚</a:t>
            </a:r>
          </a:p>
        </p:txBody>
      </p:sp>
      <p:sp>
        <p:nvSpPr>
          <p:cNvPr id="23" name="TextBox 22"/>
          <p:cNvSpPr txBox="1"/>
          <p:nvPr/>
        </p:nvSpPr>
        <p:spPr>
          <a:xfrm>
            <a:off x="4892039" y="4023360"/>
            <a:ext cx="2743200" cy="320040"/>
          </a:xfrm>
          <a:prstGeom prst="rect">
            <a:avLst/>
          </a:prstGeom>
          <a:noFill/>
        </p:spPr>
        <p:txBody>
          <a:bodyPr wrap="none">
            <a:spAutoFit/>
          </a:bodyPr>
          <a:lstStyle/>
          <a:p>
            <a:pPr>
              <a:defRPr sz="1600" b="1">
                <a:solidFill>
                  <a:srgbClr val="1A1A2E"/>
                </a:solidFill>
                <a:latin typeface="Calibri"/>
              </a:defRPr>
            </a:pPr>
            <a:r>
              <a:t>Generating Documentation</a:t>
            </a:r>
          </a:p>
        </p:txBody>
      </p:sp>
      <p:sp>
        <p:nvSpPr>
          <p:cNvPr id="24" name="TextBox 23"/>
          <p:cNvSpPr txBox="1"/>
          <p:nvPr/>
        </p:nvSpPr>
        <p:spPr>
          <a:xfrm>
            <a:off x="4480559" y="4480560"/>
            <a:ext cx="3108960" cy="914400"/>
          </a:xfrm>
          <a:prstGeom prst="rect">
            <a:avLst/>
          </a:prstGeom>
          <a:noFill/>
        </p:spPr>
        <p:txBody>
          <a:bodyPr wrap="square">
            <a:spAutoFit/>
          </a:bodyPr>
          <a:lstStyle/>
          <a:p>
            <a:pPr>
              <a:defRPr sz="1300">
                <a:solidFill>
                  <a:srgbClr val="666672"/>
                </a:solidFill>
                <a:latin typeface="Calibri"/>
              </a:defRPr>
            </a:pPr>
            <a:r>
              <a:t>Create README files, JSDoc comments,</a:t>
            </a:r>
            <a:br/>
            <a:r>
              <a:t>PowerPoint presentations, API docs</a:t>
            </a:r>
          </a:p>
        </p:txBody>
      </p:sp>
      <p:sp>
        <p:nvSpPr>
          <p:cNvPr id="25" name="Rounded Rectangle 24"/>
          <p:cNvSpPr/>
          <p:nvPr/>
        </p:nvSpPr>
        <p:spPr>
          <a:xfrm>
            <a:off x="8046719" y="3840480"/>
            <a:ext cx="3474720"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79" y="3977640"/>
            <a:ext cx="457200" cy="457200"/>
          </a:xfrm>
          <a:prstGeom prst="rect">
            <a:avLst/>
          </a:prstGeom>
          <a:noFill/>
        </p:spPr>
        <p:txBody>
          <a:bodyPr wrap="none">
            <a:spAutoFit/>
          </a:bodyPr>
          <a:lstStyle/>
          <a:p>
            <a:pPr>
              <a:defRPr sz="2600"/>
            </a:pPr>
            <a:r>
              <a:t>🐛</a:t>
            </a:r>
          </a:p>
        </p:txBody>
      </p:sp>
      <p:sp>
        <p:nvSpPr>
          <p:cNvPr id="27" name="TextBox 26"/>
          <p:cNvSpPr txBox="1"/>
          <p:nvPr/>
        </p:nvSpPr>
        <p:spPr>
          <a:xfrm>
            <a:off x="8641079" y="4023360"/>
            <a:ext cx="2743200" cy="320040"/>
          </a:xfrm>
          <a:prstGeom prst="rect">
            <a:avLst/>
          </a:prstGeom>
          <a:noFill/>
        </p:spPr>
        <p:txBody>
          <a:bodyPr wrap="none">
            <a:spAutoFit/>
          </a:bodyPr>
          <a:lstStyle/>
          <a:p>
            <a:pPr>
              <a:defRPr sz="1600" b="1">
                <a:solidFill>
                  <a:srgbClr val="1A1A2E"/>
                </a:solidFill>
                <a:latin typeface="Calibri"/>
              </a:defRPr>
            </a:pPr>
            <a:r>
              <a:t>Bug Fixing</a:t>
            </a:r>
          </a:p>
        </p:txBody>
      </p:sp>
      <p:sp>
        <p:nvSpPr>
          <p:cNvPr id="28" name="TextBox 27"/>
          <p:cNvSpPr txBox="1"/>
          <p:nvPr/>
        </p:nvSpPr>
        <p:spPr>
          <a:xfrm>
            <a:off x="8229599" y="4480560"/>
            <a:ext cx="3108960" cy="914400"/>
          </a:xfrm>
          <a:prstGeom prst="rect">
            <a:avLst/>
          </a:prstGeom>
          <a:noFill/>
        </p:spPr>
        <p:txBody>
          <a:bodyPr wrap="square">
            <a:spAutoFit/>
          </a:bodyPr>
          <a:lstStyle/>
          <a:p>
            <a:pPr>
              <a:defRPr sz="1300">
                <a:solidFill>
                  <a:srgbClr val="666672"/>
                </a:solidFill>
                <a:latin typeface="Calibri"/>
              </a:defRPr>
            </a:pPr>
            <a:r>
              <a:t>Investigate issues, add debug logging,</a:t>
            </a:r>
            <a:br/>
            <a:r>
              <a:t>identify root cause, apply fix</a:t>
            </a:r>
          </a:p>
        </p:txBody>
      </p:sp>
      <p:sp>
        <p:nvSpPr>
          <p:cNvPr id="29" name="TextBox 28"/>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30" name="TextBox 29"/>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Things to Be Careful About</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AI is powerful, but developer responsibility still matters</a:t>
            </a:r>
          </a:p>
        </p:txBody>
      </p:sp>
      <p:sp>
        <p:nvSpPr>
          <p:cNvPr id="5" name="Rounded Rectangle 4"/>
          <p:cNvSpPr/>
          <p:nvPr/>
        </p:nvSpPr>
        <p:spPr>
          <a:xfrm>
            <a:off x="731520" y="1554480"/>
            <a:ext cx="512064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54864" cy="1920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664208"/>
            <a:ext cx="4800600" cy="320040"/>
          </a:xfrm>
          <a:prstGeom prst="rect">
            <a:avLst/>
          </a:prstGeom>
          <a:noFill/>
        </p:spPr>
        <p:txBody>
          <a:bodyPr wrap="none">
            <a:spAutoFit/>
          </a:bodyPr>
          <a:lstStyle/>
          <a:p>
            <a:pPr>
              <a:defRPr sz="1400" b="1">
                <a:solidFill>
                  <a:srgbClr val="1A1A2E"/>
                </a:solidFill>
                <a:latin typeface="Calibri"/>
              </a:defRPr>
            </a:pPr>
            <a:r>
              <a:t>🔍  Always Review the Code</a:t>
            </a:r>
          </a:p>
        </p:txBody>
      </p:sp>
      <p:sp>
        <p:nvSpPr>
          <p:cNvPr id="8" name="TextBox 7"/>
          <p:cNvSpPr txBox="1"/>
          <p:nvPr/>
        </p:nvSpPr>
        <p:spPr>
          <a:xfrm>
            <a:off x="932688" y="1993392"/>
            <a:ext cx="4800600" cy="1417320"/>
          </a:xfrm>
          <a:prstGeom prst="rect">
            <a:avLst/>
          </a:prstGeom>
          <a:noFill/>
        </p:spPr>
        <p:txBody>
          <a:bodyPr wrap="square">
            <a:spAutoFit/>
          </a:bodyPr>
          <a:lstStyle/>
          <a:p>
            <a:pPr>
              <a:spcAft>
                <a:spcPts val="300"/>
              </a:spcAft>
              <a:defRPr sz="1200">
                <a:solidFill>
                  <a:srgbClr val="666672"/>
                </a:solidFill>
                <a:latin typeface="Calibri"/>
              </a:defRPr>
            </a:pPr>
            <a:r>
              <a:t>The agent writes good code, but you are still responsible.</a:t>
            </a:r>
          </a:p>
          <a:p>
            <a:pPr>
              <a:spcAft>
                <a:spcPts val="300"/>
              </a:spcAft>
              <a:defRPr sz="1200">
                <a:solidFill>
                  <a:srgbClr val="666672"/>
                </a:solidFill>
                <a:latin typeface="Calibri"/>
              </a:defRPr>
            </a:pPr>
            <a:r>
              <a:t>Read every change before merging. Check for edge cases,</a:t>
            </a:r>
          </a:p>
          <a:p>
            <a:pPr>
              <a:spcAft>
                <a:spcPts val="300"/>
              </a:spcAft>
              <a:defRPr sz="1200">
                <a:solidFill>
                  <a:srgbClr val="666672"/>
                </a:solidFill>
                <a:latin typeface="Calibri"/>
              </a:defRPr>
            </a:pPr>
            <a:r>
              <a:t>security issues, and logic errors. Never merge blindly.</a:t>
            </a:r>
          </a:p>
        </p:txBody>
      </p:sp>
      <p:sp>
        <p:nvSpPr>
          <p:cNvPr id="9" name="Rounded Rectangle 8"/>
          <p:cNvSpPr/>
          <p:nvPr/>
        </p:nvSpPr>
        <p:spPr>
          <a:xfrm>
            <a:off x="6309360" y="1554480"/>
            <a:ext cx="512064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554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0528" y="1664208"/>
            <a:ext cx="4800600" cy="320040"/>
          </a:xfrm>
          <a:prstGeom prst="rect">
            <a:avLst/>
          </a:prstGeom>
          <a:noFill/>
        </p:spPr>
        <p:txBody>
          <a:bodyPr wrap="none">
            <a:spAutoFit/>
          </a:bodyPr>
          <a:lstStyle/>
          <a:p>
            <a:pPr>
              <a:defRPr sz="1400" b="1">
                <a:solidFill>
                  <a:srgbClr val="1A1A2E"/>
                </a:solidFill>
                <a:latin typeface="Calibri"/>
              </a:defRPr>
            </a:pPr>
            <a:r>
              <a:t>💬  Give Clear, Specific Prompts</a:t>
            </a:r>
          </a:p>
        </p:txBody>
      </p:sp>
      <p:sp>
        <p:nvSpPr>
          <p:cNvPr id="12" name="TextBox 11"/>
          <p:cNvSpPr txBox="1"/>
          <p:nvPr/>
        </p:nvSpPr>
        <p:spPr>
          <a:xfrm>
            <a:off x="6510528" y="1993392"/>
            <a:ext cx="4800600" cy="1417320"/>
          </a:xfrm>
          <a:prstGeom prst="rect">
            <a:avLst/>
          </a:prstGeom>
          <a:noFill/>
        </p:spPr>
        <p:txBody>
          <a:bodyPr wrap="square">
            <a:spAutoFit/>
          </a:bodyPr>
          <a:lstStyle/>
          <a:p>
            <a:pPr>
              <a:spcAft>
                <a:spcPts val="300"/>
              </a:spcAft>
              <a:defRPr sz="1200">
                <a:solidFill>
                  <a:srgbClr val="666672"/>
                </a:solidFill>
                <a:latin typeface="Calibri"/>
              </a:defRPr>
            </a:pPr>
            <a:r>
              <a:t>Vague prompts give vague results. Be explicit about what</a:t>
            </a:r>
          </a:p>
          <a:p>
            <a:pPr>
              <a:spcAft>
                <a:spcPts val="300"/>
              </a:spcAft>
              <a:defRPr sz="1200">
                <a:solidFill>
                  <a:srgbClr val="666672"/>
                </a:solidFill>
                <a:latin typeface="Calibri"/>
              </a:defRPr>
            </a:pPr>
            <a:r>
              <a:t>you want, where it should go, and what constraints to follow.</a:t>
            </a:r>
          </a:p>
          <a:p>
            <a:pPr>
              <a:spcAft>
                <a:spcPts val="300"/>
              </a:spcAft>
              <a:defRPr sz="1200">
                <a:solidFill>
                  <a:srgbClr val="666672"/>
                </a:solidFill>
                <a:latin typeface="Calibri"/>
              </a:defRPr>
            </a:pPr>
            <a:r>
              <a:t>The better your prompt, the better the output.</a:t>
            </a:r>
          </a:p>
        </p:txBody>
      </p:sp>
      <p:sp>
        <p:nvSpPr>
          <p:cNvPr id="13" name="Rounded Rectangle 12"/>
          <p:cNvSpPr/>
          <p:nvPr/>
        </p:nvSpPr>
        <p:spPr>
          <a:xfrm>
            <a:off x="731520" y="3840480"/>
            <a:ext cx="512064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840480"/>
            <a:ext cx="54864" cy="1920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50208"/>
            <a:ext cx="4800600" cy="320040"/>
          </a:xfrm>
          <a:prstGeom prst="rect">
            <a:avLst/>
          </a:prstGeom>
          <a:noFill/>
        </p:spPr>
        <p:txBody>
          <a:bodyPr wrap="none">
            <a:spAutoFit/>
          </a:bodyPr>
          <a:lstStyle/>
          <a:p>
            <a:pPr>
              <a:defRPr sz="1400" b="1">
                <a:solidFill>
                  <a:srgbClr val="1A1A2E"/>
                </a:solidFill>
                <a:latin typeface="Calibri"/>
              </a:defRPr>
            </a:pPr>
            <a:r>
              <a:t>🧪  Test Manually After the Agent</a:t>
            </a:r>
          </a:p>
        </p:txBody>
      </p:sp>
      <p:sp>
        <p:nvSpPr>
          <p:cNvPr id="16" name="TextBox 15"/>
          <p:cNvSpPr txBox="1"/>
          <p:nvPr/>
        </p:nvSpPr>
        <p:spPr>
          <a:xfrm>
            <a:off x="932688" y="4279392"/>
            <a:ext cx="4800600" cy="1417320"/>
          </a:xfrm>
          <a:prstGeom prst="rect">
            <a:avLst/>
          </a:prstGeom>
          <a:noFill/>
        </p:spPr>
        <p:txBody>
          <a:bodyPr wrap="square">
            <a:spAutoFit/>
          </a:bodyPr>
          <a:lstStyle/>
          <a:p>
            <a:pPr>
              <a:spcAft>
                <a:spcPts val="300"/>
              </a:spcAft>
              <a:defRPr sz="1200">
                <a:solidFill>
                  <a:srgbClr val="666672"/>
                </a:solidFill>
                <a:latin typeface="Calibri"/>
              </a:defRPr>
            </a:pPr>
            <a:r>
              <a:t>The agent tests its own work, but you should also verify.</a:t>
            </a:r>
          </a:p>
          <a:p>
            <a:pPr>
              <a:spcAft>
                <a:spcPts val="300"/>
              </a:spcAft>
              <a:defRPr sz="1200">
                <a:solidFill>
                  <a:srgbClr val="666672"/>
                </a:solidFill>
                <a:latin typeface="Calibri"/>
              </a:defRPr>
            </a:pPr>
            <a:r>
              <a:t>Check different browsers, screen sizes, edge cases like</a:t>
            </a:r>
          </a:p>
          <a:p>
            <a:pPr>
              <a:spcAft>
                <a:spcPts val="300"/>
              </a:spcAft>
              <a:defRPr sz="1200">
                <a:solidFill>
                  <a:srgbClr val="666672"/>
                </a:solidFill>
                <a:latin typeface="Calibri"/>
              </a:defRPr>
            </a:pPr>
            <a:r>
              <a:t>empty inputs, and make sure nothing else is broken.</a:t>
            </a:r>
          </a:p>
        </p:txBody>
      </p:sp>
      <p:sp>
        <p:nvSpPr>
          <p:cNvPr id="17" name="Rounded Rectangle 16"/>
          <p:cNvSpPr/>
          <p:nvPr/>
        </p:nvSpPr>
        <p:spPr>
          <a:xfrm>
            <a:off x="6309360" y="3840480"/>
            <a:ext cx="512064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3840480"/>
            <a:ext cx="54864" cy="19202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8" y="3950208"/>
            <a:ext cx="4800600" cy="320040"/>
          </a:xfrm>
          <a:prstGeom prst="rect">
            <a:avLst/>
          </a:prstGeom>
          <a:noFill/>
        </p:spPr>
        <p:txBody>
          <a:bodyPr wrap="none">
            <a:spAutoFit/>
          </a:bodyPr>
          <a:lstStyle/>
          <a:p>
            <a:pPr>
              <a:defRPr sz="1400" b="1">
                <a:solidFill>
                  <a:srgbClr val="1A1A2E"/>
                </a:solidFill>
                <a:latin typeface="Calibri"/>
              </a:defRPr>
            </a:pPr>
            <a:r>
              <a:t>⚠️  Don't Use for Sensitive Logic</a:t>
            </a:r>
          </a:p>
        </p:txBody>
      </p:sp>
      <p:sp>
        <p:nvSpPr>
          <p:cNvPr id="20" name="TextBox 19"/>
          <p:cNvSpPr txBox="1"/>
          <p:nvPr/>
        </p:nvSpPr>
        <p:spPr>
          <a:xfrm>
            <a:off x="6510528" y="4279392"/>
            <a:ext cx="4800600" cy="1417320"/>
          </a:xfrm>
          <a:prstGeom prst="rect">
            <a:avLst/>
          </a:prstGeom>
          <a:noFill/>
        </p:spPr>
        <p:txBody>
          <a:bodyPr wrap="square">
            <a:spAutoFit/>
          </a:bodyPr>
          <a:lstStyle/>
          <a:p>
            <a:pPr>
              <a:spcAft>
                <a:spcPts val="300"/>
              </a:spcAft>
              <a:defRPr sz="1200">
                <a:solidFill>
                  <a:srgbClr val="666672"/>
                </a:solidFill>
                <a:latin typeface="Calibri"/>
              </a:defRPr>
            </a:pPr>
            <a:r>
              <a:t>Avoid using AI for authentication, encryption, payment</a:t>
            </a:r>
          </a:p>
          <a:p>
            <a:pPr>
              <a:spcAft>
                <a:spcPts val="300"/>
              </a:spcAft>
              <a:defRPr sz="1200">
                <a:solidFill>
                  <a:srgbClr val="666672"/>
                </a:solidFill>
                <a:latin typeface="Calibri"/>
              </a:defRPr>
            </a:pPr>
            <a:r>
              <a:t>processing, or security-critical code without expert review.</a:t>
            </a:r>
          </a:p>
          <a:p>
            <a:pPr>
              <a:spcAft>
                <a:spcPts val="300"/>
              </a:spcAft>
              <a:defRPr sz="1200">
                <a:solidFill>
                  <a:srgbClr val="666672"/>
                </a:solidFill>
                <a:latin typeface="Calibri"/>
              </a:defRPr>
            </a:pPr>
            <a:r>
              <a:t>AI can miss subtle security vulnerabilities.</a:t>
            </a:r>
          </a:p>
        </p:txBody>
      </p:sp>
      <p:sp>
        <p:nvSpPr>
          <p:cNvPr id="21" name="Rounded Rectangle 20"/>
          <p:cNvSpPr/>
          <p:nvPr/>
        </p:nvSpPr>
        <p:spPr>
          <a:xfrm>
            <a:off x="2286000" y="5760720"/>
            <a:ext cx="7589520" cy="457200"/>
          </a:xfrm>
          <a:prstGeom prst="roundRect">
            <a:avLst/>
          </a:prstGeom>
          <a:solidFill>
            <a:srgbClr val="FFF7ED"/>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68880" y="5806440"/>
            <a:ext cx="7315200" cy="365760"/>
          </a:xfrm>
          <a:prstGeom prst="rect">
            <a:avLst/>
          </a:prstGeom>
          <a:noFill/>
        </p:spPr>
        <p:txBody>
          <a:bodyPr wrap="none">
            <a:spAutoFit/>
          </a:bodyPr>
          <a:lstStyle/>
          <a:p>
            <a:pPr algn="ctr">
              <a:defRPr sz="1300" b="1">
                <a:solidFill>
                  <a:srgbClr val="44445A"/>
                </a:solidFill>
                <a:latin typeface="Calibri"/>
              </a:defRPr>
            </a:pPr>
            <a:r>
              <a:t>⚠️  Remember: AI is your assistant, not your replacement. You own the code. You own the quality.</a:t>
            </a:r>
          </a:p>
        </p:txBody>
      </p:sp>
      <p:sp>
        <p:nvSpPr>
          <p:cNvPr id="23" name="TextBox 22"/>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24" name="TextBox 23"/>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CFDF5"/>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Live Demo</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Showing the actual branch, commit, and working feature</a:t>
            </a:r>
          </a:p>
        </p:txBody>
      </p:sp>
      <p:sp>
        <p:nvSpPr>
          <p:cNvPr id="5" name="TextBox 4"/>
          <p:cNvSpPr txBox="1"/>
          <p:nvPr/>
        </p:nvSpPr>
        <p:spPr>
          <a:xfrm>
            <a:off x="457200" y="1417320"/>
            <a:ext cx="3474720" cy="320040"/>
          </a:xfrm>
          <a:prstGeom prst="rect">
            <a:avLst/>
          </a:prstGeom>
          <a:noFill/>
        </p:spPr>
        <p:txBody>
          <a:bodyPr wrap="none">
            <a:spAutoFit/>
          </a:bodyPr>
          <a:lstStyle/>
          <a:p>
            <a:pPr>
              <a:defRPr sz="1500" b="1">
                <a:solidFill>
                  <a:srgbClr val="1A1A2E"/>
                </a:solidFill>
                <a:latin typeface="Calibri"/>
              </a:defRPr>
            </a:pPr>
            <a:r>
              <a:t>🔀  Git Branch</a:t>
            </a:r>
          </a:p>
        </p:txBody>
      </p:sp>
      <p:sp>
        <p:nvSpPr>
          <p:cNvPr id="6" name="Rounded Rectangle 5"/>
          <p:cNvSpPr/>
          <p:nvPr/>
        </p:nvSpPr>
        <p:spPr>
          <a:xfrm>
            <a:off x="457200" y="1828800"/>
            <a:ext cx="3474720" cy="3200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 git branch</a:t>
            </a:r>
          </a:p>
          <a:p>
            <a:pPr>
              <a:spcBef>
                <a:spcPts val="200"/>
              </a:spcBef>
              <a:spcAft>
                <a:spcPts val="200"/>
              </a:spcAft>
              <a:defRPr sz="1200">
                <a:solidFill>
                  <a:srgbClr val="E2E8F0"/>
                </a:solidFill>
                <a:latin typeface="Consolas"/>
              </a:defRPr>
            </a:pPr>
            <a:r>
              <a:t>  main</a:t>
            </a:r>
          </a:p>
          <a:p>
            <a:pPr>
              <a:spcBef>
                <a:spcPts val="200"/>
              </a:spcBef>
              <a:spcAft>
                <a:spcPts val="200"/>
              </a:spcAft>
              <a:defRPr sz="1200">
                <a:solidFill>
                  <a:srgbClr val="E2E8F0"/>
                </a:solidFill>
                <a:latin typeface="Consolas"/>
              </a:defRPr>
            </a:pPr>
            <a:r>
              <a:t>* feature/remember-me</a:t>
            </a:r>
          </a:p>
        </p:txBody>
      </p:sp>
      <p:sp>
        <p:nvSpPr>
          <p:cNvPr id="7" name="TextBox 6"/>
          <p:cNvSpPr txBox="1"/>
          <p:nvPr/>
        </p:nvSpPr>
        <p:spPr>
          <a:xfrm>
            <a:off x="457200" y="5120640"/>
            <a:ext cx="3474720" cy="274320"/>
          </a:xfrm>
          <a:prstGeom prst="rect">
            <a:avLst/>
          </a:prstGeom>
          <a:noFill/>
        </p:spPr>
        <p:txBody>
          <a:bodyPr wrap="none">
            <a:spAutoFit/>
          </a:bodyPr>
          <a:lstStyle/>
          <a:p>
            <a:pPr algn="ctr">
              <a:defRPr sz="1100">
                <a:solidFill>
                  <a:srgbClr val="9999A5"/>
                </a:solidFill>
                <a:latin typeface="Calibri"/>
              </a:defRPr>
            </a:pPr>
            <a:r>
              <a:t>Branch created automatically by the agent</a:t>
            </a:r>
          </a:p>
        </p:txBody>
      </p:sp>
      <p:sp>
        <p:nvSpPr>
          <p:cNvPr id="8" name="TextBox 7"/>
          <p:cNvSpPr txBox="1"/>
          <p:nvPr/>
        </p:nvSpPr>
        <p:spPr>
          <a:xfrm>
            <a:off x="4297680" y="1417320"/>
            <a:ext cx="3474720" cy="320040"/>
          </a:xfrm>
          <a:prstGeom prst="rect">
            <a:avLst/>
          </a:prstGeom>
          <a:noFill/>
        </p:spPr>
        <p:txBody>
          <a:bodyPr wrap="none">
            <a:spAutoFit/>
          </a:bodyPr>
          <a:lstStyle/>
          <a:p>
            <a:pPr>
              <a:defRPr sz="1500" b="1">
                <a:solidFill>
                  <a:srgbClr val="1A1A2E"/>
                </a:solidFill>
                <a:latin typeface="Calibri"/>
              </a:defRPr>
            </a:pPr>
            <a:r>
              <a:t>📝  Git Commit</a:t>
            </a:r>
          </a:p>
        </p:txBody>
      </p:sp>
      <p:sp>
        <p:nvSpPr>
          <p:cNvPr id="9" name="Rounded Rectangle 8"/>
          <p:cNvSpPr/>
          <p:nvPr/>
        </p:nvSpPr>
        <p:spPr>
          <a:xfrm>
            <a:off x="4297680" y="1828800"/>
            <a:ext cx="3474720" cy="3200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 git log --oneline</a:t>
            </a:r>
          </a:p>
          <a:p>
            <a:pPr>
              <a:spcBef>
                <a:spcPts val="200"/>
              </a:spcBef>
              <a:spcAft>
                <a:spcPts val="200"/>
              </a:spcAft>
              <a:defRPr sz="1200">
                <a:solidFill>
                  <a:srgbClr val="E2E8F0"/>
                </a:solidFill>
                <a:latin typeface="Consolas"/>
              </a:defRPr>
            </a:pPr>
            <a:r>
              <a:t>297bc7a  docs: add development</a:t>
            </a:r>
          </a:p>
          <a:p>
            <a:pPr>
              <a:spcBef>
                <a:spcPts val="200"/>
              </a:spcBef>
              <a:spcAft>
                <a:spcPts val="200"/>
              </a:spcAft>
              <a:defRPr sz="1200">
                <a:solidFill>
                  <a:srgbClr val="E2E8F0"/>
                </a:solidFill>
                <a:latin typeface="Consolas"/>
              </a:defRPr>
            </a:pPr>
            <a:r>
              <a:t>         environment setup presentation</a:t>
            </a:r>
          </a:p>
          <a:p>
            <a:pPr>
              <a:spcBef>
                <a:spcPts val="200"/>
              </a:spcBef>
              <a:spcAft>
                <a:spcPts val="200"/>
              </a:spcAft>
              <a:defRPr sz="1200">
                <a:solidFill>
                  <a:srgbClr val="E2E8F0"/>
                </a:solidFill>
                <a:latin typeface="Consolas"/>
              </a:defRPr>
            </a:pPr>
            <a:r>
              <a:t>db41c30  feat: add Remember Me checkbox</a:t>
            </a:r>
          </a:p>
          <a:p>
            <a:pPr>
              <a:spcBef>
                <a:spcPts val="200"/>
              </a:spcBef>
              <a:spcAft>
                <a:spcPts val="200"/>
              </a:spcAft>
              <a:defRPr sz="1200">
                <a:solidFill>
                  <a:srgbClr val="E2E8F0"/>
                </a:solidFill>
                <a:latin typeface="Consolas"/>
              </a:defRPr>
            </a:pPr>
            <a:r>
              <a:t>         with localStorage persistence</a:t>
            </a:r>
          </a:p>
          <a:p>
            <a:pPr>
              <a:spcBef>
                <a:spcPts val="200"/>
              </a:spcBef>
              <a:spcAft>
                <a:spcPts val="200"/>
              </a:spcAft>
              <a:defRPr sz="1200">
                <a:solidFill>
                  <a:srgbClr val="E2E8F0"/>
                </a:solidFill>
                <a:latin typeface="Consolas"/>
              </a:defRPr>
            </a:pPr>
            <a:r>
              <a:t>82b8d8e  Update index.html</a:t>
            </a:r>
          </a:p>
          <a:p>
            <a:pPr>
              <a:spcBef>
                <a:spcPts val="200"/>
              </a:spcBef>
              <a:spcAft>
                <a:spcPts val="200"/>
              </a:spcAft>
              <a:defRPr sz="1200">
                <a:solidFill>
                  <a:srgbClr val="E2E8F0"/>
                </a:solidFill>
                <a:latin typeface="Consolas"/>
              </a:defRPr>
            </a:pPr>
            <a:r>
              <a:t>fdcade2  Add files via upload</a:t>
            </a:r>
          </a:p>
        </p:txBody>
      </p:sp>
      <p:sp>
        <p:nvSpPr>
          <p:cNvPr id="10" name="TextBox 9"/>
          <p:cNvSpPr txBox="1"/>
          <p:nvPr/>
        </p:nvSpPr>
        <p:spPr>
          <a:xfrm>
            <a:off x="4297680" y="5120640"/>
            <a:ext cx="3474720" cy="274320"/>
          </a:xfrm>
          <a:prstGeom prst="rect">
            <a:avLst/>
          </a:prstGeom>
          <a:noFill/>
        </p:spPr>
        <p:txBody>
          <a:bodyPr wrap="none">
            <a:spAutoFit/>
          </a:bodyPr>
          <a:lstStyle/>
          <a:p>
            <a:pPr algn="ctr">
              <a:defRPr sz="1100">
                <a:solidFill>
                  <a:srgbClr val="9999A5"/>
                </a:solidFill>
                <a:latin typeface="Calibri"/>
              </a:defRPr>
            </a:pPr>
            <a:r>
              <a:t>Proper conventional commit messages</a:t>
            </a:r>
          </a:p>
        </p:txBody>
      </p:sp>
      <p:sp>
        <p:nvSpPr>
          <p:cNvPr id="11" name="TextBox 10"/>
          <p:cNvSpPr txBox="1"/>
          <p:nvPr/>
        </p:nvSpPr>
        <p:spPr>
          <a:xfrm>
            <a:off x="8138160" y="1417320"/>
            <a:ext cx="3474720" cy="320040"/>
          </a:xfrm>
          <a:prstGeom prst="rect">
            <a:avLst/>
          </a:prstGeom>
          <a:noFill/>
        </p:spPr>
        <p:txBody>
          <a:bodyPr wrap="none">
            <a:spAutoFit/>
          </a:bodyPr>
          <a:lstStyle/>
          <a:p>
            <a:pPr>
              <a:defRPr sz="1500" b="1">
                <a:solidFill>
                  <a:srgbClr val="1A1A2E"/>
                </a:solidFill>
                <a:latin typeface="Calibri"/>
              </a:defRPr>
            </a:pPr>
            <a:r>
              <a:t>🌍  Working Feature</a:t>
            </a:r>
          </a:p>
        </p:txBody>
      </p:sp>
      <p:sp>
        <p:nvSpPr>
          <p:cNvPr id="12" name="Rounded Rectangle 11"/>
          <p:cNvSpPr/>
          <p:nvPr/>
        </p:nvSpPr>
        <p:spPr>
          <a:xfrm>
            <a:off x="8138160" y="1828800"/>
            <a:ext cx="3474720" cy="32004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bIns="182880"/>
          <a:lstStyle/>
          <a:p>
            <a:pPr algn="ctr">
              <a:spcBef>
                <a:spcPts val="200"/>
              </a:spcBef>
              <a:spcAft>
                <a:spcPts val="200"/>
              </a:spcAft>
              <a:defRPr sz="1200">
                <a:solidFill>
                  <a:srgbClr val="E2E8F0"/>
                </a:solidFill>
                <a:latin typeface="Consolas"/>
              </a:defRPr>
            </a:pPr>
            <a:r>
              <a:t>1. Open http://localhost:8080/</a:t>
            </a:r>
          </a:p>
          <a:p>
            <a:pPr>
              <a:spcBef>
                <a:spcPts val="200"/>
              </a:spcBef>
              <a:spcAft>
                <a:spcPts val="200"/>
              </a:spcAft>
              <a:defRPr sz="1200">
                <a:solidFill>
                  <a:srgbClr val="E2E8F0"/>
                </a:solidFill>
                <a:latin typeface="Consolas"/>
              </a:defRPr>
            </a:pPr>
            <a:r>
              <a:t>2. Type username: testuser</a:t>
            </a:r>
          </a:p>
          <a:p>
            <a:pPr>
              <a:spcBef>
                <a:spcPts val="200"/>
              </a:spcBef>
              <a:spcAft>
                <a:spcPts val="200"/>
              </a:spcAft>
              <a:defRPr sz="1200">
                <a:solidFill>
                  <a:srgbClr val="E2E8F0"/>
                </a:solidFill>
                <a:latin typeface="Consolas"/>
              </a:defRPr>
            </a:pPr>
            <a:r>
              <a:t>3. Check  Remember Me</a:t>
            </a:r>
          </a:p>
          <a:p>
            <a:pPr>
              <a:spcBef>
                <a:spcPts val="200"/>
              </a:spcBef>
              <a:spcAft>
                <a:spcPts val="200"/>
              </a:spcAft>
              <a:defRPr sz="1200">
                <a:solidFill>
                  <a:srgbClr val="E2E8F0"/>
                </a:solidFill>
                <a:latin typeface="Consolas"/>
              </a:defRPr>
            </a:pPr>
            <a:r>
              <a:t>4. Click LOGIN</a:t>
            </a:r>
          </a:p>
          <a:p>
            <a:pPr>
              <a:spcBef>
                <a:spcPts val="200"/>
              </a:spcBef>
              <a:spcAft>
                <a:spcPts val="200"/>
              </a:spcAft>
              <a:defRPr sz="1200">
                <a:solidFill>
                  <a:srgbClr val="E2E8F0"/>
                </a:solidFill>
                <a:latin typeface="Consolas"/>
              </a:defRPr>
            </a:pPr>
            <a:r>
              <a:t>5. Page reloads</a:t>
            </a:r>
          </a:p>
          <a:p>
            <a:pPr>
              <a:spcBef>
                <a:spcPts val="200"/>
              </a:spcBef>
              <a:spcAft>
                <a:spcPts val="200"/>
              </a:spcAft>
              <a:defRPr sz="1200">
                <a:solidFill>
                  <a:srgbClr val="E2E8F0"/>
                </a:solidFill>
                <a:latin typeface="Consolas"/>
              </a:defRPr>
            </a:pPr>
            <a:r>
              <a:t>6. Username "testuser" is auto-filled!</a:t>
            </a:r>
          </a:p>
          <a:p>
            <a:pPr>
              <a:spcBef>
                <a:spcPts val="200"/>
              </a:spcBef>
              <a:spcAft>
                <a:spcPts val="200"/>
              </a:spcAft>
              <a:defRPr sz="1200">
                <a:solidFill>
                  <a:srgbClr val="E2E8F0"/>
                </a:solidFill>
                <a:latin typeface="Consolas"/>
              </a:defRPr>
            </a:pPr>
            <a:r>
              <a:t>7. Checkbox is still checked!</a:t>
            </a:r>
          </a:p>
        </p:txBody>
      </p:sp>
      <p:sp>
        <p:nvSpPr>
          <p:cNvPr id="13" name="TextBox 12"/>
          <p:cNvSpPr txBox="1"/>
          <p:nvPr/>
        </p:nvSpPr>
        <p:spPr>
          <a:xfrm>
            <a:off x="8138160" y="5120640"/>
            <a:ext cx="3474720" cy="274320"/>
          </a:xfrm>
          <a:prstGeom prst="rect">
            <a:avLst/>
          </a:prstGeom>
          <a:noFill/>
        </p:spPr>
        <p:txBody>
          <a:bodyPr wrap="none">
            <a:spAutoFit/>
          </a:bodyPr>
          <a:lstStyle/>
          <a:p>
            <a:pPr algn="ctr">
              <a:defRPr sz="1100">
                <a:solidFill>
                  <a:srgbClr val="9999A5"/>
                </a:solidFill>
                <a:latin typeface="Calibri"/>
              </a:defRPr>
            </a:pPr>
            <a:r>
              <a:t>Feature verified in Chrome browser</a:t>
            </a:r>
          </a:p>
        </p:txBody>
      </p:sp>
      <p:sp>
        <p:nvSpPr>
          <p:cNvPr id="14" name="Rounded Rectangle 13"/>
          <p:cNvSpPr/>
          <p:nvPr/>
        </p:nvSpPr>
        <p:spPr>
          <a:xfrm>
            <a:off x="2743200" y="5669280"/>
            <a:ext cx="6675120" cy="457200"/>
          </a:xfrm>
          <a:prstGeom prst="round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38D39F"/>
                </a:solidFill>
                <a:latin typeface="Calibri"/>
              </a:defRPr>
            </a:pPr>
            <a:r>
              <a:t>🔗  github.com/Umadevitd/Responsive-Login-Form  •  branch: feature/remember-me</a:t>
            </a:r>
          </a:p>
        </p:txBody>
      </p:sp>
      <p:sp>
        <p:nvSpPr>
          <p:cNvPr id="15" name="TextBox 14"/>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16" name="TextBox 15"/>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94360"/>
          </a:xfrm>
          <a:prstGeom prst="rect">
            <a:avLst/>
          </a:prstGeom>
          <a:noFill/>
        </p:spPr>
        <p:txBody>
          <a:bodyPr wrap="none">
            <a:spAutoFit/>
          </a:bodyPr>
          <a:lstStyle/>
          <a:p>
            <a:pPr>
              <a:defRPr sz="3000" b="1">
                <a:solidFill>
                  <a:srgbClr val="1A1A2E"/>
                </a:solidFill>
                <a:latin typeface="Calibri"/>
              </a:defRPr>
            </a:pPr>
            <a:r>
              <a:t>Conclusion</a:t>
            </a:r>
          </a:p>
        </p:txBody>
      </p:sp>
      <p:sp>
        <p:nvSpPr>
          <p:cNvPr id="4" name="TextBox 3"/>
          <p:cNvSpPr txBox="1"/>
          <p:nvPr/>
        </p:nvSpPr>
        <p:spPr>
          <a:xfrm>
            <a:off x="731520" y="914400"/>
            <a:ext cx="10058400" cy="365760"/>
          </a:xfrm>
          <a:prstGeom prst="rect">
            <a:avLst/>
          </a:prstGeom>
          <a:noFill/>
        </p:spPr>
        <p:txBody>
          <a:bodyPr wrap="none">
            <a:spAutoFit/>
          </a:bodyPr>
          <a:lstStyle/>
          <a:p>
            <a:pPr>
              <a:defRPr sz="1500">
                <a:solidFill>
                  <a:srgbClr val="666672"/>
                </a:solidFill>
                <a:latin typeface="Calibri"/>
              </a:defRPr>
            </a:pPr>
            <a:r>
              <a:t>Key takeaways from this talk</a:t>
            </a:r>
          </a:p>
        </p:txBody>
      </p:sp>
      <p:sp>
        <p:nvSpPr>
          <p:cNvPr id="5" name="TextBox 4"/>
          <p:cNvSpPr txBox="1"/>
          <p:nvPr/>
        </p:nvSpPr>
        <p:spPr>
          <a:xfrm>
            <a:off x="731520" y="1600200"/>
            <a:ext cx="548640" cy="548640"/>
          </a:xfrm>
          <a:prstGeom prst="rect">
            <a:avLst/>
          </a:prstGeom>
          <a:noFill/>
        </p:spPr>
        <p:txBody>
          <a:bodyPr wrap="none">
            <a:spAutoFit/>
          </a:bodyPr>
          <a:lstStyle/>
          <a:p>
            <a:pPr>
              <a:defRPr sz="3000"/>
            </a:pPr>
            <a:r>
              <a:t>📈</a:t>
            </a:r>
          </a:p>
        </p:txBody>
      </p:sp>
      <p:sp>
        <p:nvSpPr>
          <p:cNvPr id="6" name="TextBox 5"/>
          <p:cNvSpPr txBox="1"/>
          <p:nvPr/>
        </p:nvSpPr>
        <p:spPr>
          <a:xfrm>
            <a:off x="1463040" y="1554480"/>
            <a:ext cx="9144000" cy="365760"/>
          </a:xfrm>
          <a:prstGeom prst="rect">
            <a:avLst/>
          </a:prstGeom>
          <a:noFill/>
        </p:spPr>
        <p:txBody>
          <a:bodyPr wrap="none">
            <a:spAutoFit/>
          </a:bodyPr>
          <a:lstStyle/>
          <a:p>
            <a:pPr>
              <a:defRPr sz="2200" b="1">
                <a:solidFill>
                  <a:srgbClr val="1A1A2E"/>
                </a:solidFill>
                <a:latin typeface="Calibri"/>
              </a:defRPr>
            </a:pPr>
            <a:r>
              <a:t>AI Improves Productivity</a:t>
            </a:r>
          </a:p>
        </p:txBody>
      </p:sp>
      <p:sp>
        <p:nvSpPr>
          <p:cNvPr id="7" name="TextBox 6"/>
          <p:cNvSpPr txBox="1"/>
          <p:nvPr/>
        </p:nvSpPr>
        <p:spPr>
          <a:xfrm>
            <a:off x="1463040" y="1965960"/>
            <a:ext cx="9144000" cy="914400"/>
          </a:xfrm>
          <a:prstGeom prst="rect">
            <a:avLst/>
          </a:prstGeom>
          <a:noFill/>
        </p:spPr>
        <p:txBody>
          <a:bodyPr wrap="square">
            <a:spAutoFit/>
          </a:bodyPr>
          <a:lstStyle/>
          <a:p>
            <a:pPr>
              <a:spcAft>
                <a:spcPts val="400"/>
              </a:spcAft>
              <a:defRPr sz="1400">
                <a:solidFill>
                  <a:srgbClr val="666672"/>
                </a:solidFill>
                <a:latin typeface="Calibri"/>
              </a:defRPr>
            </a:pPr>
            <a:r>
              <a:t>•  Cursor Cloud Agent handles routine development tasks in minutes.</a:t>
            </a:r>
          </a:p>
          <a:p>
            <a:pPr>
              <a:spcAft>
                <a:spcPts val="400"/>
              </a:spcAft>
              <a:defRPr sz="1400">
                <a:solidFill>
                  <a:srgbClr val="666672"/>
                </a:solidFill>
                <a:latin typeface="Calibri"/>
              </a:defRPr>
            </a:pPr>
            <a:r>
              <a:t>•  Branch creation, code changes, testing, committing — all automated.</a:t>
            </a:r>
          </a:p>
          <a:p>
            <a:pPr>
              <a:spcAft>
                <a:spcPts val="400"/>
              </a:spcAft>
              <a:defRPr sz="1400">
                <a:solidFill>
                  <a:srgbClr val="666672"/>
                </a:solidFill>
                <a:latin typeface="Calibri"/>
              </a:defRPr>
            </a:pPr>
            <a:r>
              <a:t>•  You focus on architecture, design decisions, and code review.</a:t>
            </a:r>
          </a:p>
        </p:txBody>
      </p:sp>
      <p:sp>
        <p:nvSpPr>
          <p:cNvPr id="8" name="TextBox 7"/>
          <p:cNvSpPr txBox="1"/>
          <p:nvPr/>
        </p:nvSpPr>
        <p:spPr>
          <a:xfrm>
            <a:off x="731520" y="3154680"/>
            <a:ext cx="548640" cy="548640"/>
          </a:xfrm>
          <a:prstGeom prst="rect">
            <a:avLst/>
          </a:prstGeom>
          <a:noFill/>
        </p:spPr>
        <p:txBody>
          <a:bodyPr wrap="none">
            <a:spAutoFit/>
          </a:bodyPr>
          <a:lstStyle/>
          <a:p>
            <a:pPr>
              <a:defRPr sz="3000"/>
            </a:pPr>
            <a:r>
              <a:t>🧐</a:t>
            </a:r>
          </a:p>
        </p:txBody>
      </p:sp>
      <p:sp>
        <p:nvSpPr>
          <p:cNvPr id="9" name="TextBox 8"/>
          <p:cNvSpPr txBox="1"/>
          <p:nvPr/>
        </p:nvSpPr>
        <p:spPr>
          <a:xfrm>
            <a:off x="1463040" y="3108960"/>
            <a:ext cx="9144000" cy="365760"/>
          </a:xfrm>
          <a:prstGeom prst="rect">
            <a:avLst/>
          </a:prstGeom>
          <a:noFill/>
        </p:spPr>
        <p:txBody>
          <a:bodyPr wrap="none">
            <a:spAutoFit/>
          </a:bodyPr>
          <a:lstStyle/>
          <a:p>
            <a:pPr>
              <a:defRPr sz="2200" b="1">
                <a:solidFill>
                  <a:srgbClr val="1A1A2E"/>
                </a:solidFill>
                <a:latin typeface="Calibri"/>
              </a:defRPr>
            </a:pPr>
            <a:r>
              <a:t>Developer Review is Essential</a:t>
            </a:r>
          </a:p>
        </p:txBody>
      </p:sp>
      <p:sp>
        <p:nvSpPr>
          <p:cNvPr id="10" name="TextBox 9"/>
          <p:cNvSpPr txBox="1"/>
          <p:nvPr/>
        </p:nvSpPr>
        <p:spPr>
          <a:xfrm>
            <a:off x="1463040" y="3520440"/>
            <a:ext cx="9144000" cy="914400"/>
          </a:xfrm>
          <a:prstGeom prst="rect">
            <a:avLst/>
          </a:prstGeom>
          <a:noFill/>
        </p:spPr>
        <p:txBody>
          <a:bodyPr wrap="square">
            <a:spAutoFit/>
          </a:bodyPr>
          <a:lstStyle/>
          <a:p>
            <a:pPr>
              <a:spcAft>
                <a:spcPts val="400"/>
              </a:spcAft>
              <a:defRPr sz="1400">
                <a:solidFill>
                  <a:srgbClr val="666672"/>
                </a:solidFill>
                <a:latin typeface="Calibri"/>
              </a:defRPr>
            </a:pPr>
            <a:r>
              <a:t>•  AI writes code, but humans own the quality.</a:t>
            </a:r>
          </a:p>
          <a:p>
            <a:pPr>
              <a:spcAft>
                <a:spcPts val="400"/>
              </a:spcAft>
              <a:defRPr sz="1400">
                <a:solidFill>
                  <a:srgbClr val="666672"/>
                </a:solidFill>
                <a:latin typeface="Calibri"/>
              </a:defRPr>
            </a:pPr>
            <a:r>
              <a:t>•  Always read the diff, test edge cases, check security.</a:t>
            </a:r>
          </a:p>
          <a:p>
            <a:pPr>
              <a:spcAft>
                <a:spcPts val="400"/>
              </a:spcAft>
              <a:defRPr sz="1400">
                <a:solidFill>
                  <a:srgbClr val="666672"/>
                </a:solidFill>
                <a:latin typeface="Calibri"/>
              </a:defRPr>
            </a:pPr>
            <a:r>
              <a:t>•  Treat AI output like a pull request from a colleague.</a:t>
            </a:r>
          </a:p>
        </p:txBody>
      </p:sp>
      <p:sp>
        <p:nvSpPr>
          <p:cNvPr id="11" name="TextBox 10"/>
          <p:cNvSpPr txBox="1"/>
          <p:nvPr/>
        </p:nvSpPr>
        <p:spPr>
          <a:xfrm>
            <a:off x="731520" y="4709160"/>
            <a:ext cx="548640" cy="548640"/>
          </a:xfrm>
          <a:prstGeom prst="rect">
            <a:avLst/>
          </a:prstGeom>
          <a:noFill/>
        </p:spPr>
        <p:txBody>
          <a:bodyPr wrap="none">
            <a:spAutoFit/>
          </a:bodyPr>
          <a:lstStyle/>
          <a:p>
            <a:pPr>
              <a:defRPr sz="3000"/>
            </a:pPr>
            <a:r>
              <a:t>🤝</a:t>
            </a:r>
          </a:p>
        </p:txBody>
      </p:sp>
      <p:sp>
        <p:nvSpPr>
          <p:cNvPr id="12" name="TextBox 11"/>
          <p:cNvSpPr txBox="1"/>
          <p:nvPr/>
        </p:nvSpPr>
        <p:spPr>
          <a:xfrm>
            <a:off x="1463040" y="4663440"/>
            <a:ext cx="9144000" cy="365760"/>
          </a:xfrm>
          <a:prstGeom prst="rect">
            <a:avLst/>
          </a:prstGeom>
          <a:noFill/>
        </p:spPr>
        <p:txBody>
          <a:bodyPr wrap="none">
            <a:spAutoFit/>
          </a:bodyPr>
          <a:lstStyle/>
          <a:p>
            <a:pPr>
              <a:defRPr sz="2200" b="1">
                <a:solidFill>
                  <a:srgbClr val="1A1A2E"/>
                </a:solidFill>
                <a:latin typeface="Calibri"/>
              </a:defRPr>
            </a:pPr>
            <a:r>
              <a:t>Cursor = Assistant, Not Replacement</a:t>
            </a:r>
          </a:p>
        </p:txBody>
      </p:sp>
      <p:sp>
        <p:nvSpPr>
          <p:cNvPr id="13" name="TextBox 12"/>
          <p:cNvSpPr txBox="1"/>
          <p:nvPr/>
        </p:nvSpPr>
        <p:spPr>
          <a:xfrm>
            <a:off x="1463040" y="5074920"/>
            <a:ext cx="9144000" cy="914400"/>
          </a:xfrm>
          <a:prstGeom prst="rect">
            <a:avLst/>
          </a:prstGeom>
          <a:noFill/>
        </p:spPr>
        <p:txBody>
          <a:bodyPr wrap="square">
            <a:spAutoFit/>
          </a:bodyPr>
          <a:lstStyle/>
          <a:p>
            <a:pPr>
              <a:spcAft>
                <a:spcPts val="400"/>
              </a:spcAft>
              <a:defRPr sz="1400">
                <a:solidFill>
                  <a:srgbClr val="666672"/>
                </a:solidFill>
                <a:latin typeface="Calibri"/>
              </a:defRPr>
            </a:pPr>
            <a:r>
              <a:t>•  The best results come from collaboration.</a:t>
            </a:r>
          </a:p>
          <a:p>
            <a:pPr>
              <a:spcAft>
                <a:spcPts val="400"/>
              </a:spcAft>
              <a:defRPr sz="1400">
                <a:solidFill>
                  <a:srgbClr val="666672"/>
                </a:solidFill>
                <a:latin typeface="Calibri"/>
              </a:defRPr>
            </a:pPr>
            <a:r>
              <a:t>•  You provide the vision, context, and judgment.</a:t>
            </a:r>
          </a:p>
          <a:p>
            <a:pPr>
              <a:spcAft>
                <a:spcPts val="400"/>
              </a:spcAft>
              <a:defRPr sz="1400">
                <a:solidFill>
                  <a:srgbClr val="666672"/>
                </a:solidFill>
                <a:latin typeface="Calibri"/>
              </a:defRPr>
            </a:pPr>
            <a:r>
              <a:t>•  The agent provides the speed and consistency.</a:t>
            </a:r>
          </a:p>
        </p:txBody>
      </p:sp>
      <p:sp>
        <p:nvSpPr>
          <p:cNvPr id="14" name="Rounded Rectangle 13"/>
          <p:cNvSpPr/>
          <p:nvPr/>
        </p:nvSpPr>
        <p:spPr>
          <a:xfrm>
            <a:off x="1828800" y="5577840"/>
            <a:ext cx="8503920" cy="548640"/>
          </a:xfrm>
          <a:prstGeom prst="roundRect">
            <a:avLst/>
          </a:prstGeom>
          <a:solidFill>
            <a:srgbClr val="ECFDF5"/>
          </a:solidFill>
          <a:ln w="19050">
            <a:solidFill>
              <a:srgbClr val="38D3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5650992"/>
            <a:ext cx="7955279" cy="411480"/>
          </a:xfrm>
          <a:prstGeom prst="rect">
            <a:avLst/>
          </a:prstGeom>
          <a:noFill/>
        </p:spPr>
        <p:txBody>
          <a:bodyPr wrap="none">
            <a:spAutoFit/>
          </a:bodyPr>
          <a:lstStyle/>
          <a:p>
            <a:pPr algn="ctr">
              <a:defRPr sz="1400" i="1">
                <a:solidFill>
                  <a:srgbClr val="2AA87E"/>
                </a:solidFill>
                <a:latin typeface="Calibri"/>
              </a:defRPr>
            </a:pPr>
            <a:r>
              <a:t>“ The best developer is one who knows when to code and when to let AI code for them. ”</a:t>
            </a:r>
          </a:p>
        </p:txBody>
      </p:sp>
      <p:sp>
        <p:nvSpPr>
          <p:cNvPr id="16" name="TextBox 15"/>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17" name="TextBox 16"/>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CFDF5"/>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91695" cy="64008"/>
          </a:xfrm>
          <a:prstGeom prst="rect">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371600"/>
            <a:ext cx="8503920" cy="1097280"/>
          </a:xfrm>
          <a:prstGeom prst="rect">
            <a:avLst/>
          </a:prstGeom>
          <a:noFill/>
        </p:spPr>
        <p:txBody>
          <a:bodyPr wrap="none">
            <a:spAutoFit/>
          </a:bodyPr>
          <a:lstStyle/>
          <a:p>
            <a:pPr algn="ctr">
              <a:defRPr sz="4800" b="1">
                <a:solidFill>
                  <a:srgbClr val="1A1A2E"/>
                </a:solidFill>
                <a:latin typeface="Calibri"/>
              </a:defRPr>
            </a:pPr>
            <a:r>
              <a:t>Questions &amp; Answers</a:t>
            </a:r>
          </a:p>
        </p:txBody>
      </p:sp>
      <p:sp>
        <p:nvSpPr>
          <p:cNvPr id="5" name="Oval 4"/>
          <p:cNvSpPr/>
          <p:nvPr/>
        </p:nvSpPr>
        <p:spPr>
          <a:xfrm>
            <a:off x="4937760" y="2560320"/>
            <a:ext cx="2286000" cy="2286000"/>
          </a:xfrm>
          <a:prstGeom prst="ellipse">
            <a:avLst/>
          </a:prstGeom>
          <a:solidFill>
            <a:srgbClr val="38D3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600" b="1">
                <a:solidFill>
                  <a:srgbClr val="FFFFFF"/>
                </a:solidFill>
                <a:latin typeface="Calibri"/>
              </a:defRPr>
            </a:pPr>
            <a:r>
              <a:t>Q &amp; A</a:t>
            </a:r>
          </a:p>
        </p:txBody>
      </p:sp>
      <p:sp>
        <p:nvSpPr>
          <p:cNvPr id="6" name="TextBox 5"/>
          <p:cNvSpPr txBox="1"/>
          <p:nvPr/>
        </p:nvSpPr>
        <p:spPr>
          <a:xfrm>
            <a:off x="1828800" y="5029200"/>
            <a:ext cx="8503920" cy="1371600"/>
          </a:xfrm>
          <a:prstGeom prst="rect">
            <a:avLst/>
          </a:prstGeom>
          <a:noFill/>
        </p:spPr>
        <p:txBody>
          <a:bodyPr wrap="none">
            <a:spAutoFit/>
          </a:bodyPr>
          <a:lstStyle/>
          <a:p>
            <a:pPr algn="ctr">
              <a:spcAft>
                <a:spcPts val="400"/>
              </a:spcAft>
              <a:defRPr sz="1800" b="1">
                <a:solidFill>
                  <a:srgbClr val="1A1A2E"/>
                </a:solidFill>
                <a:latin typeface="Calibri"/>
              </a:defRPr>
            </a:pPr>
            <a:r>
              <a:t>Thank you for attending!</a:t>
            </a:r>
          </a:p>
          <a:p>
            <a:pPr algn="ctr">
              <a:spcAft>
                <a:spcPts val="400"/>
              </a:spcAft>
              <a:defRPr sz="1300">
                <a:solidFill>
                  <a:srgbClr val="666672"/>
                </a:solidFill>
                <a:latin typeface="Calibri"/>
              </a:defRPr>
            </a:pPr>
          </a:p>
          <a:p>
            <a:pPr algn="ctr">
              <a:spcAft>
                <a:spcPts val="400"/>
              </a:spcAft>
              <a:defRPr sz="1300">
                <a:solidFill>
                  <a:srgbClr val="666672"/>
                </a:solidFill>
                <a:latin typeface="Calibri"/>
              </a:defRPr>
            </a:pPr>
            <a:r>
              <a:t>👤  Umadevitd</a:t>
            </a:r>
          </a:p>
          <a:p>
            <a:pPr algn="ctr">
              <a:spcAft>
                <a:spcPts val="400"/>
              </a:spcAft>
              <a:defRPr sz="1300">
                <a:solidFill>
                  <a:srgbClr val="666672"/>
                </a:solidFill>
                <a:latin typeface="Calibri"/>
              </a:defRPr>
            </a:pPr>
            <a:r>
              <a:t>💻  github.com/Umadevitd/Responsive-Login-Form</a:t>
            </a:r>
          </a:p>
          <a:p>
            <a:pPr algn="ctr">
              <a:spcAft>
                <a:spcPts val="400"/>
              </a:spcAft>
              <a:defRPr sz="1300">
                <a:solidFill>
                  <a:srgbClr val="666672"/>
                </a:solidFill>
                <a:latin typeface="Calibri"/>
              </a:defRPr>
            </a:pPr>
            <a:r>
              <a:t>🔀  Branch: feature/remember-me</a:t>
            </a:r>
          </a:p>
          <a:p>
            <a:pPr algn="ctr">
              <a:spcAft>
                <a:spcPts val="400"/>
              </a:spcAft>
              <a:defRPr sz="1300">
                <a:solidFill>
                  <a:srgbClr val="666672"/>
                </a:solidFill>
                <a:latin typeface="Calibri"/>
              </a:defRPr>
            </a:pPr>
          </a:p>
          <a:p>
            <a:pPr algn="ctr">
              <a:spcAft>
                <a:spcPts val="400"/>
              </a:spcAft>
              <a:defRPr sz="1400" b="1">
                <a:solidFill>
                  <a:srgbClr val="38D39F"/>
                </a:solidFill>
                <a:latin typeface="Calibri"/>
              </a:defRPr>
            </a:pPr>
            <a:r>
              <a:t>Try it yourself — Cursor is free to get started!</a:t>
            </a:r>
          </a:p>
        </p:txBody>
      </p:sp>
      <p:sp>
        <p:nvSpPr>
          <p:cNvPr id="7" name="TextBox 6"/>
          <p:cNvSpPr txBox="1"/>
          <p:nvPr/>
        </p:nvSpPr>
        <p:spPr>
          <a:xfrm>
            <a:off x="548640" y="6446520"/>
            <a:ext cx="5486400" cy="320040"/>
          </a:xfrm>
          <a:prstGeom prst="rect">
            <a:avLst/>
          </a:prstGeom>
          <a:noFill/>
        </p:spPr>
        <p:txBody>
          <a:bodyPr wrap="none">
            <a:spAutoFit/>
          </a:bodyPr>
          <a:lstStyle/>
          <a:p>
            <a:pPr>
              <a:defRPr sz="900">
                <a:solidFill>
                  <a:srgbClr val="9999A5"/>
                </a:solidFill>
                <a:latin typeface="Calibri"/>
              </a:defRPr>
            </a:pPr>
            <a:r>
              <a:t>Using Cursor Cloud Agent for Real Development Tasks  •  Umadevitd</a:t>
            </a:r>
          </a:p>
        </p:txBody>
      </p:sp>
      <p:sp>
        <p:nvSpPr>
          <p:cNvPr id="8" name="TextBox 7"/>
          <p:cNvSpPr txBox="1"/>
          <p:nvPr/>
        </p:nvSpPr>
        <p:spPr>
          <a:xfrm>
            <a:off x="10515600" y="6446520"/>
            <a:ext cx="1371600" cy="320040"/>
          </a:xfrm>
          <a:prstGeom prst="rect">
            <a:avLst/>
          </a:prstGeom>
          <a:noFill/>
        </p:spPr>
        <p:txBody>
          <a:bodyPr wrap="none">
            <a:spAutoFit/>
          </a:bodyPr>
          <a:lstStyle/>
          <a:p>
            <a:pPr algn="r">
              <a:defRPr sz="900">
                <a:solidFill>
                  <a:srgbClr val="9999A5"/>
                </a:solidFill>
                <a:latin typeface="Calibri"/>
              </a:defRPr>
            </a:pPr>
            <a: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